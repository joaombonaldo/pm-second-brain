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a3ebad1-b2dd-50a4-fdf7-d079a1ce1831}">
          <p14:sldIdLst>
            <p14:sldId id="256"/>
            <p14:sldId id="257"/>
          </p14:sldIdLst>
        </p14:section>
        <p14:section name="Concepts" id="{0160e3a5-9387-2822-2875-cab1f571b1a6}">
          <p14:sldIdLst>
            <p14:sldId id="258"/>
            <p14:sldId id="259"/>
          </p14:sldIdLst>
        </p14:section>
        <p14:section name="Skills" id="{707235f4-6f02-a7cf-ec5b-ea47f2e531ef}">
          <p14:sldIdLst>
            <p14:sldId id="260"/>
          </p14:sldIdLst>
        </p14:section>
        <p14:section name="In practice" id="{c6dac1fa-2813-6a30-105e-0748e14d9012}">
          <p14:sldIdLst>
            <p14:sldId id="261"/>
            <p14:sldId id="262"/>
          </p14:sldIdLst>
        </p14:section>
        <p14:section name="Roadmap" id="{f4b3f352-97ac-1725-9a9b-a6d22f2b37b8}">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is a show-and-tell of something I have been building: PM Second Brain, a small team of AI agents running on Devin that helps a PM remember everything about their product and takes over the repetitive weekly work. I will explain two concepts that may be new — a second brain, and why it needs to sleep — then the key idea: skills that run on top of what the brain knows. I will finish with how it works for a team and a fast, gated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problems drive this. First, what we know about our products is spread across meetings, Jira, Confluence and people's heads, so a simple question means digging, and context leaves when people do. Second, every week we rebuild the same artifacts — status reports, release notes, user stories — mostly from scratch. Third, at team level nobody sees what everyone else is building, so we duplicate work and miss chances to reuse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brain is an idea from personal knowledge management: an external, organised memory you trust, so your head is free for thinking instead of remembering. For a PM, that means meetings, decisions and the reasons behind them, people and what they care about, and product facts. The AI version adds one thing: the agent reads this memory before it answers and writes back to it after it works, so every week the brain knows more. It runs as a loop: capture, organise, recall, use. It's just markdown files on your laptop, and every statement is typed and cited, so you can always tell a decision from a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memory that only grows turns into noise. Humans deal with this during sleep, when the brain consolidates what happened during the day — so we gave the second brain a 'dreaming' step too. Once a week, /sweep merges duplicates, marks decisions that were replaced by newer ones while keeping them as history, flags stale notes, promotes things that keep coming up into the product pages and rebuilds the topic pages. Nothing changes without your approval. On top of that, everything is versioned, topic pages group notes by theme, and search works on simple metadata, so no extra infrastructure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A skill is the how — a reusable procedure, like how to write good release notes. The brain is the what — my product, my decisions, my persona and templates. Put them together and the output sounds like my team and knows my product: if a colleague runs the same /release-notes skill, she gets a different but equally correct result, because her brain is different, and nobody rewrites a prompt. That works because skills only touch the brain through three standard doors — settings, personal preferences and templates, and search — which is also what makes a shared marketplace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is split into five roles, each with a few commands — and you don't have to remember them, because you can ask in plain words and Devin picks the right one. The Brain Keeper owns memory; the Backlog Writer, Release Manager and Reporter take the recurring writing; the Connector works at team level. In a normal week, I drop transcripts in daily and ask questions whenever I need. During the sprint, stories and release notes come from what the brain already knows. On Friday the brain sleeps and I approve my digest, and on Monday my manager gets the roll-up and the 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and team value are designed together. Everything raw stays on your laptop; once a week a short digest is drafted, a privacy check runs, and you see the exact text and say yes before anything is pushed to the shared team hub. Those digests are what the Connector reads. In this illustrative example with fictional people, it spots two PMs building the same scorer, a prompt library one PM could reuse, and a possible combination worth exploring. Every finding has a confidence level and a next step, so it starts a conversation rather than making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deliberately fast, with a gate at most every month. In late October I set it up in Devin CLI and connect Jira, Confluence and GitLab. In November I pilot it on my own product; if it saves me real time, in December it goes to the PM team and the team hub goes live; and in January the skills marketplace opens to the wider team of about 25 people. To be clear about where we are: version 0.3 is built, but it has not been tested inside Devin yet — that's the first thing I'll prove.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accent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429000"/>
            <a:ext cx="9601200" cy="914400"/>
          </a:xfrm>
          <a:prstGeom prst="rect">
            <a:avLst/>
          </a:prstGeom>
          <a:noFill/>
          <a:ln/>
        </p:spPr>
        <p:txBody>
          <a:bodyPr wrap="square" rtlCol="0"/>
          <a:lstStyle>
            <a:lvl1pPr algn="l" indent="0" marL="0">
              <a:buNone/>
              <a:defRPr lang="en-US" sz="2400" dirty="0">
                <a:solidFill>
                  <a:schemeClr val="accent2"/>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accent4"/>
                </a:solidFill>
              </a:rPr>
              <a:t>PM Second Brain</a:t>
            </a:r>
            <a:endParaRPr lang="en-US" sz="1000" dirty="0"/>
          </a:p>
        </p:txBody>
      </p:sp>
      <p:sp>
        <p:nvSpPr>
          <p:cNvPr id="3" name="Text 1"/>
          <p:cNvSpPr/>
          <p:nvPr>
            <p:ph idx="101" type="title" hasCustomPrompt="1"/>
          </p:nvPr>
        </p:nvSpPr>
        <p:spPr>
          <a:xfrm>
            <a:off x="548640" y="365760"/>
            <a:ext cx="1106424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accent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rPr>
              <a:t>PM Second Brain</a:t>
            </a:r>
            <a:endParaRPr lang="en-US" sz="5400" dirty="0"/>
          </a:p>
        </p:txBody>
      </p:sp>
      <p:sp>
        <p:nvSpPr>
          <p:cNvPr id="3" name="Text 0"/>
          <p:cNvSpPr/>
          <p:nvPr>
            <p:ph idx="101" type="body" hasCustomPrompt="1"/>
          </p:nvPr>
        </p:nvSpPr>
        <p:spPr>
          <a:xfrm>
            <a:off x="731520" y="3429000"/>
            <a:ext cx="9601200" cy="914400"/>
          </a:xfrm>
          <a:prstGeom prst="rect">
            <a:avLst/>
          </a:prstGeom>
          <a:noFill/>
          <a:ln/>
        </p:spPr>
        <p:txBody>
          <a:bodyPr wrap="square" lIns="0" tIns="0" rIns="0" bIns="0" rtlCol="0" anchor="t"/>
          <a:lstStyle/>
          <a:p>
            <a:pPr algn="l" indent="0" marL="0">
              <a:buNone/>
            </a:pPr>
            <a:r>
              <a:rPr lang="en-US" sz="2400" dirty="0">
                <a:solidFill>
                  <a:schemeClr val="accent2"/>
                </a:solidFill>
              </a:rPr>
              <a:t>A team of AI agents that helps Product Managers run their products — on Devin</a:t>
            </a:r>
            <a:endParaRPr lang="en-US" sz="2400" dirty="0"/>
          </a:p>
        </p:txBody>
      </p:sp>
      <p:sp>
        <p:nvSpPr>
          <p:cNvPr id="4" name="iconbg-1"/>
          <p:cNvSpPr/>
          <p:nvPr/>
        </p:nvSpPr>
        <p:spPr>
          <a:xfrm>
            <a:off x="731520" y="1051560"/>
            <a:ext cx="731520" cy="731520"/>
          </a:xfrm>
          <a:prstGeom prst="ellipse">
            <a:avLst/>
          </a:prstGeom>
          <a:solidFill>
            <a:schemeClr val="accent1"/>
          </a:solidFill>
          <a:ln/>
        </p:spPr>
      </p:sp>
      <p:pic>
        <p:nvPicPr>
          <p:cNvPr id="5" name="icon-2" descr="preencoded.png">    </p:cNvPr>
          <p:cNvPicPr>
            <a:picLocks noChangeAspect="1"/>
          </p:cNvPicPr>
          <p:nvPr/>
        </p:nvPicPr>
        <p:blipFill>
          <a:blip r:embed="rId1"/>
          <a:stretch>
            <a:fillRect/>
          </a:stretch>
        </p:blipFill>
        <p:spPr>
          <a:xfrm>
            <a:off x="892454" y="1212494"/>
            <a:ext cx="409651" cy="409651"/>
          </a:xfrm>
          <a:prstGeom prst="rect">
            <a:avLst/>
          </a:prstGeom>
        </p:spPr>
      </p:pic>
      <p:sp>
        <p:nvSpPr>
          <p:cNvPr id="6" name="iconbg-3"/>
          <p:cNvSpPr/>
          <p:nvPr/>
        </p:nvSpPr>
        <p:spPr>
          <a:xfrm>
            <a:off x="1645920" y="1051560"/>
            <a:ext cx="731520" cy="731520"/>
          </a:xfrm>
          <a:prstGeom prst="ellipse">
            <a:avLst/>
          </a:prstGeom>
          <a:solidFill>
            <a:schemeClr val="tx2"/>
          </a:solidFill>
          <a:ln/>
        </p:spPr>
      </p:sp>
      <p:pic>
        <p:nvPicPr>
          <p:cNvPr id="7" name="icon-4" descr="preencoded.png">    </p:cNvPr>
          <p:cNvPicPr>
            <a:picLocks noChangeAspect="1"/>
          </p:cNvPicPr>
          <p:nvPr/>
        </p:nvPicPr>
        <p:blipFill>
          <a:blip r:embed="rId2"/>
          <a:stretch>
            <a:fillRect/>
          </a:stretch>
        </p:blipFill>
        <p:spPr>
          <a:xfrm>
            <a:off x="1806854" y="1212494"/>
            <a:ext cx="409651" cy="409651"/>
          </a:xfrm>
          <a:prstGeom prst="rect">
            <a:avLst/>
          </a:prstGeom>
        </p:spPr>
      </p:pic>
      <p:sp>
        <p:nvSpPr>
          <p:cNvPr id="8" name="iconbg-5"/>
          <p:cNvSpPr/>
          <p:nvPr/>
        </p:nvSpPr>
        <p:spPr>
          <a:xfrm>
            <a:off x="2560320" y="1051560"/>
            <a:ext cx="731520" cy="731520"/>
          </a:xfrm>
          <a:prstGeom prst="ellipse">
            <a:avLst/>
          </a:prstGeom>
          <a:solidFill>
            <a:schemeClr val="tx2"/>
          </a:solidFill>
          <a:ln/>
        </p:spPr>
      </p:sp>
      <p:pic>
        <p:nvPicPr>
          <p:cNvPr id="9" name="icon-6" descr="preencoded.png">    </p:cNvPr>
          <p:cNvPicPr>
            <a:picLocks noChangeAspect="1"/>
          </p:cNvPicPr>
          <p:nvPr/>
        </p:nvPicPr>
        <p:blipFill>
          <a:blip r:embed="rId3"/>
          <a:stretch>
            <a:fillRect/>
          </a:stretch>
        </p:blipFill>
        <p:spPr>
          <a:xfrm>
            <a:off x="2721254" y="1212494"/>
            <a:ext cx="409651" cy="409651"/>
          </a:xfrm>
          <a:prstGeom prst="rect">
            <a:avLst/>
          </a:prstGeom>
        </p:spPr>
      </p:pic>
      <p:sp>
        <p:nvSpPr>
          <p:cNvPr id="10" name="text-7"/>
          <p:cNvSpPr txBox="1"/>
          <p:nvPr/>
        </p:nvSpPr>
        <p:spPr>
          <a:xfrm>
            <a:off x="731520" y="5760720"/>
            <a:ext cx="7315200" cy="365760"/>
          </a:xfrm>
          <a:prstGeom prst="rect">
            <a:avLst/>
          </a:prstGeom>
          <a:noFill/>
          <a:ln/>
        </p:spPr>
        <p:txBody>
          <a:bodyPr wrap="square" lIns="0" tIns="0" rIns="0" bIns="0" rtlCol="0" anchor="t"/>
          <a:lstStyle/>
          <a:p>
            <a:pPr indent="0" marL="0">
              <a:buNone/>
            </a:pPr>
            <a:r>
              <a:rPr lang="en-US" sz="1800" dirty="0">
                <a:solidFill>
                  <a:schemeClr val="accent4"/>
                </a:solidFill>
              </a:rPr>
              <a:t>João Miguel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1"/>
                </a:solidFill>
              </a:rPr>
              <a:t>PM work today: scattered, repeated, siloed</a:t>
            </a:r>
            <a:endParaRPr lang="en-US" sz="3600" dirty="0"/>
          </a:p>
        </p:txBody>
      </p:sp>
      <p:sp>
        <p:nvSpPr>
          <p:cNvPr id="3" name="card-8"/>
          <p:cNvSpPr/>
          <p:nvPr/>
        </p:nvSpPr>
        <p:spPr>
          <a:xfrm>
            <a:off x="548640" y="1463040"/>
            <a:ext cx="3520440" cy="4480560"/>
          </a:xfrm>
          <a:prstGeom prst="roundRect">
            <a:avLst>
              <a:gd name="adj" fmla="val 3117"/>
            </a:avLst>
          </a:prstGeom>
          <a:solidFill>
            <a:schemeClr val="bg2"/>
          </a:solidFill>
          <a:ln/>
        </p:spPr>
      </p:sp>
      <p:sp>
        <p:nvSpPr>
          <p:cNvPr id="4" name="iconbg-9"/>
          <p:cNvSpPr/>
          <p:nvPr/>
        </p:nvSpPr>
        <p:spPr>
          <a:xfrm>
            <a:off x="914400" y="1828800"/>
            <a:ext cx="731520" cy="731520"/>
          </a:xfrm>
          <a:prstGeom prst="ellipse">
            <a:avLst/>
          </a:prstGeom>
          <a:solidFill>
            <a:schemeClr val="accent1"/>
          </a:solidFill>
          <a:ln/>
        </p:spPr>
      </p:sp>
      <p:pic>
        <p:nvPicPr>
          <p:cNvPr id="5" name="icon-10" descr="preencoded.png">    </p:cNvPr>
          <p:cNvPicPr>
            <a:picLocks noChangeAspect="1"/>
          </p:cNvPicPr>
          <p:nvPr/>
        </p:nvPicPr>
        <p:blipFill>
          <a:blip r:embed="rId1"/>
          <a:stretch>
            <a:fillRect/>
          </a:stretch>
        </p:blipFill>
        <p:spPr>
          <a:xfrm>
            <a:off x="1075334" y="1989734"/>
            <a:ext cx="409651" cy="409651"/>
          </a:xfrm>
          <a:prstGeom prst="rect">
            <a:avLst/>
          </a:prstGeom>
        </p:spPr>
      </p:pic>
      <p:sp>
        <p:nvSpPr>
          <p:cNvPr id="6" name="text-11"/>
          <p:cNvSpPr txBox="1"/>
          <p:nvPr/>
        </p:nvSpPr>
        <p:spPr>
          <a:xfrm>
            <a:off x="914400" y="2788920"/>
            <a:ext cx="2788920" cy="457200"/>
          </a:xfrm>
          <a:prstGeom prst="rect">
            <a:avLst/>
          </a:prstGeom>
          <a:noFill/>
          <a:ln/>
        </p:spPr>
        <p:txBody>
          <a:bodyPr wrap="square" lIns="0" tIns="0" rIns="0" bIns="0" rtlCol="0" anchor="t"/>
          <a:lstStyle/>
          <a:p>
            <a:pPr indent="0" marL="0">
              <a:buNone/>
            </a:pPr>
            <a:r>
              <a:rPr lang="en-US" sz="2200" b="1" dirty="0">
                <a:solidFill>
                  <a:schemeClr val="tx1"/>
                </a:solidFill>
              </a:rPr>
              <a:t>Knowledge is scattered</a:t>
            </a:r>
            <a:endParaRPr lang="en-US" sz="2200" dirty="0"/>
          </a:p>
        </p:txBody>
      </p:sp>
      <p:sp>
        <p:nvSpPr>
          <p:cNvPr id="7" name="text-12"/>
          <p:cNvSpPr txBox="1"/>
          <p:nvPr/>
        </p:nvSpPr>
        <p:spPr>
          <a:xfrm>
            <a:off x="914400" y="3383280"/>
            <a:ext cx="278892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2"/>
                </a:solidFill>
              </a:rPr>
              <a:t>Meetings</a:t>
            </a:r>
            <a:endParaRPr lang="en-US" sz="1600" dirty="0"/>
          </a:p>
          <a:p>
            <a:pPr marL="342900" indent="-342900">
              <a:spcAft>
                <a:spcPts val="600"/>
              </a:spcAft>
              <a:buSzPct val="100000"/>
              <a:buChar char="•"/>
            </a:pPr>
            <a:r>
              <a:rPr lang="en-US" sz="1600" dirty="0">
                <a:solidFill>
                  <a:schemeClr val="tx2"/>
                </a:solidFill>
              </a:rPr>
              <a:t>Jira</a:t>
            </a:r>
            <a:endParaRPr lang="en-US" sz="1600" dirty="0"/>
          </a:p>
          <a:p>
            <a:pPr marL="342900" indent="-342900">
              <a:spcAft>
                <a:spcPts val="600"/>
              </a:spcAft>
              <a:buSzPct val="100000"/>
              <a:buChar char="•"/>
            </a:pPr>
            <a:r>
              <a:rPr lang="en-US" sz="1600" dirty="0">
                <a:solidFill>
                  <a:schemeClr val="tx2"/>
                </a:solidFill>
              </a:rPr>
              <a:t>Confluence</a:t>
            </a:r>
            <a:endParaRPr lang="en-US" sz="1600" dirty="0"/>
          </a:p>
          <a:p>
            <a:pPr marL="342900" indent="-342900">
              <a:spcAft>
                <a:spcPts val="600"/>
              </a:spcAft>
              <a:buSzPct val="100000"/>
              <a:buChar char="•"/>
            </a:pPr>
            <a:r>
              <a:rPr lang="en-US" sz="1600" dirty="0">
                <a:solidFill>
                  <a:schemeClr val="tx2"/>
                </a:solidFill>
              </a:rPr>
              <a:t>People's heads</a:t>
            </a:r>
            <a:endParaRPr lang="en-US" sz="1600" dirty="0"/>
          </a:p>
        </p:txBody>
      </p:sp>
      <p:sp>
        <p:nvSpPr>
          <p:cNvPr id="8" name="text-13"/>
          <p:cNvSpPr txBox="1"/>
          <p:nvPr/>
        </p:nvSpPr>
        <p:spPr>
          <a:xfrm>
            <a:off x="914400" y="5074920"/>
            <a:ext cx="2788920" cy="548640"/>
          </a:xfrm>
          <a:prstGeom prst="rect">
            <a:avLst/>
          </a:prstGeom>
          <a:noFill/>
          <a:ln/>
        </p:spPr>
        <p:txBody>
          <a:bodyPr wrap="square" lIns="0" tIns="0" rIns="0" bIns="0" rtlCol="0" anchor="t"/>
          <a:lstStyle/>
          <a:p>
            <a:pPr indent="0" marL="0">
              <a:buNone/>
            </a:pPr>
            <a:r>
              <a:rPr lang="en-US" sz="1500" b="1" i="1" dirty="0">
                <a:solidFill>
                  <a:schemeClr val="accent1"/>
                </a:solidFill>
              </a:rPr>
              <a:t>Answers take digging</a:t>
            </a:r>
            <a:endParaRPr lang="en-US" sz="1500" dirty="0"/>
          </a:p>
        </p:txBody>
      </p:sp>
      <p:sp>
        <p:nvSpPr>
          <p:cNvPr id="9" name="card-14"/>
          <p:cNvSpPr/>
          <p:nvPr/>
        </p:nvSpPr>
        <p:spPr>
          <a:xfrm>
            <a:off x="4343400" y="1463040"/>
            <a:ext cx="3520440" cy="4480560"/>
          </a:xfrm>
          <a:prstGeom prst="roundRect">
            <a:avLst>
              <a:gd name="adj" fmla="val 3117"/>
            </a:avLst>
          </a:prstGeom>
          <a:solidFill>
            <a:schemeClr val="bg2"/>
          </a:solidFill>
          <a:ln/>
        </p:spPr>
      </p:sp>
      <p:sp>
        <p:nvSpPr>
          <p:cNvPr id="10" name="iconbg-15"/>
          <p:cNvSpPr/>
          <p:nvPr/>
        </p:nvSpPr>
        <p:spPr>
          <a:xfrm>
            <a:off x="4709160" y="1828800"/>
            <a:ext cx="731520" cy="731520"/>
          </a:xfrm>
          <a:prstGeom prst="ellipse">
            <a:avLst/>
          </a:prstGeom>
          <a:solidFill>
            <a:schemeClr val="accent1"/>
          </a:solidFill>
          <a:ln/>
        </p:spPr>
      </p:sp>
      <p:pic>
        <p:nvPicPr>
          <p:cNvPr id="11" name="icon-16" descr="preencoded.png">    </p:cNvPr>
          <p:cNvPicPr>
            <a:picLocks noChangeAspect="1"/>
          </p:cNvPicPr>
          <p:nvPr/>
        </p:nvPicPr>
        <p:blipFill>
          <a:blip r:embed="rId2"/>
          <a:stretch>
            <a:fillRect/>
          </a:stretch>
        </p:blipFill>
        <p:spPr>
          <a:xfrm>
            <a:off x="4870094" y="1989734"/>
            <a:ext cx="409651" cy="409651"/>
          </a:xfrm>
          <a:prstGeom prst="rect">
            <a:avLst/>
          </a:prstGeom>
        </p:spPr>
      </p:pic>
      <p:sp>
        <p:nvSpPr>
          <p:cNvPr id="12" name="text-17"/>
          <p:cNvSpPr txBox="1"/>
          <p:nvPr/>
        </p:nvSpPr>
        <p:spPr>
          <a:xfrm>
            <a:off x="4709160" y="2788920"/>
            <a:ext cx="2788920" cy="457200"/>
          </a:xfrm>
          <a:prstGeom prst="rect">
            <a:avLst/>
          </a:prstGeom>
          <a:noFill/>
          <a:ln/>
        </p:spPr>
        <p:txBody>
          <a:bodyPr wrap="square" lIns="0" tIns="0" rIns="0" bIns="0" rtlCol="0" anchor="t"/>
          <a:lstStyle/>
          <a:p>
            <a:pPr indent="0" marL="0">
              <a:buNone/>
            </a:pPr>
            <a:r>
              <a:rPr lang="en-US" sz="2200" b="1" dirty="0">
                <a:solidFill>
                  <a:schemeClr val="tx1"/>
                </a:solidFill>
              </a:rPr>
              <a:t>Same work, every week</a:t>
            </a:r>
            <a:endParaRPr lang="en-US" sz="2200" dirty="0"/>
          </a:p>
        </p:txBody>
      </p:sp>
      <p:sp>
        <p:nvSpPr>
          <p:cNvPr id="13" name="text-18"/>
          <p:cNvSpPr txBox="1"/>
          <p:nvPr/>
        </p:nvSpPr>
        <p:spPr>
          <a:xfrm>
            <a:off x="4709160" y="3383280"/>
            <a:ext cx="278892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2"/>
                </a:solidFill>
              </a:rPr>
              <a:t>Weekly status</a:t>
            </a:r>
            <a:endParaRPr lang="en-US" sz="1600" dirty="0"/>
          </a:p>
          <a:p>
            <a:pPr marL="342900" indent="-342900">
              <a:spcAft>
                <a:spcPts val="600"/>
              </a:spcAft>
              <a:buSzPct val="100000"/>
              <a:buChar char="•"/>
            </a:pPr>
            <a:r>
              <a:rPr lang="en-US" sz="1600" dirty="0">
                <a:solidFill>
                  <a:schemeClr val="tx2"/>
                </a:solidFill>
              </a:rPr>
              <a:t>Release notes</a:t>
            </a:r>
            <a:endParaRPr lang="en-US" sz="1600" dirty="0"/>
          </a:p>
          <a:p>
            <a:pPr marL="342900" indent="-342900">
              <a:spcAft>
                <a:spcPts val="600"/>
              </a:spcAft>
              <a:buSzPct val="100000"/>
              <a:buChar char="•"/>
            </a:pPr>
            <a:r>
              <a:rPr lang="en-US" sz="1600" dirty="0">
                <a:solidFill>
                  <a:schemeClr val="tx2"/>
                </a:solidFill>
              </a:rPr>
              <a:t>User stories</a:t>
            </a:r>
            <a:endParaRPr lang="en-US" sz="1600" dirty="0"/>
          </a:p>
        </p:txBody>
      </p:sp>
      <p:sp>
        <p:nvSpPr>
          <p:cNvPr id="14" name="text-19"/>
          <p:cNvSpPr txBox="1"/>
          <p:nvPr/>
        </p:nvSpPr>
        <p:spPr>
          <a:xfrm>
            <a:off x="4709160" y="5074920"/>
            <a:ext cx="2788920" cy="548640"/>
          </a:xfrm>
          <a:prstGeom prst="rect">
            <a:avLst/>
          </a:prstGeom>
          <a:noFill/>
          <a:ln/>
        </p:spPr>
        <p:txBody>
          <a:bodyPr wrap="square" lIns="0" tIns="0" rIns="0" bIns="0" rtlCol="0" anchor="t"/>
          <a:lstStyle/>
          <a:p>
            <a:pPr indent="0" marL="0">
              <a:buNone/>
            </a:pPr>
            <a:r>
              <a:rPr lang="en-US" sz="1500" b="1" i="1" dirty="0">
                <a:solidFill>
                  <a:schemeClr val="accent1"/>
                </a:solidFill>
              </a:rPr>
              <a:t>Rebuilt from scratch</a:t>
            </a:r>
            <a:endParaRPr lang="en-US" sz="1500" dirty="0"/>
          </a:p>
        </p:txBody>
      </p:sp>
      <p:sp>
        <p:nvSpPr>
          <p:cNvPr id="15" name="card-20"/>
          <p:cNvSpPr/>
          <p:nvPr/>
        </p:nvSpPr>
        <p:spPr>
          <a:xfrm>
            <a:off x="8138160" y="1463040"/>
            <a:ext cx="3520440" cy="4480560"/>
          </a:xfrm>
          <a:prstGeom prst="roundRect">
            <a:avLst>
              <a:gd name="adj" fmla="val 3117"/>
            </a:avLst>
          </a:prstGeom>
          <a:solidFill>
            <a:schemeClr val="bg2"/>
          </a:solidFill>
          <a:ln/>
        </p:spPr>
      </p:sp>
      <p:sp>
        <p:nvSpPr>
          <p:cNvPr id="16" name="iconbg-21"/>
          <p:cNvSpPr/>
          <p:nvPr/>
        </p:nvSpPr>
        <p:spPr>
          <a:xfrm>
            <a:off x="8503920" y="1828800"/>
            <a:ext cx="731520" cy="731520"/>
          </a:xfrm>
          <a:prstGeom prst="ellipse">
            <a:avLst/>
          </a:prstGeom>
          <a:solidFill>
            <a:schemeClr val="accent1"/>
          </a:solidFill>
          <a:ln/>
        </p:spPr>
      </p:sp>
      <p:pic>
        <p:nvPicPr>
          <p:cNvPr id="17" name="icon-22" descr="preencoded.png">    </p:cNvPr>
          <p:cNvPicPr>
            <a:picLocks noChangeAspect="1"/>
          </p:cNvPicPr>
          <p:nvPr/>
        </p:nvPicPr>
        <p:blipFill>
          <a:blip r:embed="rId3"/>
          <a:stretch>
            <a:fillRect/>
          </a:stretch>
        </p:blipFill>
        <p:spPr>
          <a:xfrm>
            <a:off x="8664854" y="1989734"/>
            <a:ext cx="409651" cy="409651"/>
          </a:xfrm>
          <a:prstGeom prst="rect">
            <a:avLst/>
          </a:prstGeom>
        </p:spPr>
      </p:pic>
      <p:sp>
        <p:nvSpPr>
          <p:cNvPr id="18" name="text-23"/>
          <p:cNvSpPr txBox="1"/>
          <p:nvPr/>
        </p:nvSpPr>
        <p:spPr>
          <a:xfrm>
            <a:off x="8503920" y="2788920"/>
            <a:ext cx="2788920" cy="457200"/>
          </a:xfrm>
          <a:prstGeom prst="rect">
            <a:avLst/>
          </a:prstGeom>
          <a:noFill/>
          <a:ln/>
        </p:spPr>
        <p:txBody>
          <a:bodyPr wrap="square" lIns="0" tIns="0" rIns="0" bIns="0" rtlCol="0" anchor="t"/>
          <a:lstStyle/>
          <a:p>
            <a:pPr indent="0" marL="0">
              <a:buNone/>
            </a:pPr>
            <a:r>
              <a:rPr lang="en-US" sz="2200" b="1" dirty="0">
                <a:solidFill>
                  <a:schemeClr val="tx1"/>
                </a:solidFill>
              </a:rPr>
              <a:t>No cross-team view</a:t>
            </a:r>
            <a:endParaRPr lang="en-US" sz="2200" dirty="0"/>
          </a:p>
        </p:txBody>
      </p:sp>
      <p:sp>
        <p:nvSpPr>
          <p:cNvPr id="19" name="text-24"/>
          <p:cNvSpPr txBox="1"/>
          <p:nvPr/>
        </p:nvSpPr>
        <p:spPr>
          <a:xfrm>
            <a:off x="8503920" y="3383280"/>
            <a:ext cx="278892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2"/>
                </a:solidFill>
              </a:rPr>
              <a:t>Nobody sees overlaps</a:t>
            </a:r>
            <a:endParaRPr lang="en-US" sz="1600" dirty="0"/>
          </a:p>
          <a:p>
            <a:pPr marL="342900" indent="-342900">
              <a:spcAft>
                <a:spcPts val="600"/>
              </a:spcAft>
              <a:buSzPct val="100000"/>
              <a:buChar char="•"/>
            </a:pPr>
            <a:r>
              <a:rPr lang="en-US" sz="1600" dirty="0">
                <a:solidFill>
                  <a:schemeClr val="tx2"/>
                </a:solidFill>
              </a:rPr>
              <a:t>Duplicate builds</a:t>
            </a:r>
            <a:endParaRPr lang="en-US" sz="1600" dirty="0"/>
          </a:p>
          <a:p>
            <a:pPr marL="342900" indent="-342900">
              <a:spcAft>
                <a:spcPts val="600"/>
              </a:spcAft>
              <a:buSzPct val="100000"/>
              <a:buChar char="•"/>
            </a:pPr>
            <a:r>
              <a:rPr lang="en-US" sz="1600" dirty="0">
                <a:solidFill>
                  <a:schemeClr val="tx2"/>
                </a:solidFill>
              </a:rPr>
              <a:t>Missed reuse</a:t>
            </a:r>
            <a:endParaRPr lang="en-US" sz="1600" dirty="0"/>
          </a:p>
        </p:txBody>
      </p:sp>
      <p:sp>
        <p:nvSpPr>
          <p:cNvPr id="20" name="text-25"/>
          <p:cNvSpPr txBox="1"/>
          <p:nvPr/>
        </p:nvSpPr>
        <p:spPr>
          <a:xfrm>
            <a:off x="8503920" y="5074920"/>
            <a:ext cx="2788920" cy="548640"/>
          </a:xfrm>
          <a:prstGeom prst="rect">
            <a:avLst/>
          </a:prstGeom>
          <a:noFill/>
          <a:ln/>
        </p:spPr>
        <p:txBody>
          <a:bodyPr wrap="square" lIns="0" tIns="0" rIns="0" bIns="0" rtlCol="0" anchor="t"/>
          <a:lstStyle/>
          <a:p>
            <a:pPr indent="0" marL="0">
              <a:buNone/>
            </a:pPr>
            <a:r>
              <a:rPr lang="en-US" sz="1500" b="1" i="1" dirty="0">
                <a:solidFill>
                  <a:schemeClr val="accent1"/>
                </a:solidFill>
              </a:rPr>
              <a:t>We pay twice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1"/>
                </a:solidFill>
              </a:rPr>
              <a:t>What is a second brain?</a:t>
            </a:r>
            <a:endParaRPr lang="en-US" sz="3600" dirty="0"/>
          </a:p>
        </p:txBody>
      </p:sp>
      <p:sp>
        <p:nvSpPr>
          <p:cNvPr id="3" name="text-26"/>
          <p:cNvSpPr txBox="1"/>
          <p:nvPr/>
        </p:nvSpPr>
        <p:spPr>
          <a:xfrm>
            <a:off x="548640" y="1371600"/>
            <a:ext cx="5029200" cy="868680"/>
          </a:xfrm>
          <a:prstGeom prst="rect">
            <a:avLst/>
          </a:prstGeom>
          <a:noFill/>
          <a:ln/>
        </p:spPr>
        <p:txBody>
          <a:bodyPr wrap="square" lIns="0" tIns="0" rIns="0" bIns="0" rtlCol="0" anchor="t"/>
          <a:lstStyle/>
          <a:p>
            <a:pPr indent="0" marL="0">
              <a:buNone/>
            </a:pPr>
            <a:r>
              <a:rPr lang="en-US" sz="2000" b="1" dirty="0">
                <a:solidFill>
                  <a:schemeClr val="tx1"/>
                </a:solidFill>
              </a:rPr>
              <a:t>An external, organised memory you trust — so your head is for thinking, not remembering.</a:t>
            </a:r>
            <a:endParaRPr lang="en-US" sz="2000" dirty="0"/>
          </a:p>
        </p:txBody>
      </p:sp>
      <p:sp>
        <p:nvSpPr>
          <p:cNvPr id="4" name="text-27"/>
          <p:cNvSpPr txBox="1"/>
          <p:nvPr/>
        </p:nvSpPr>
        <p:spPr>
          <a:xfrm>
            <a:off x="548640" y="2377440"/>
            <a:ext cx="5029200" cy="1188720"/>
          </a:xfrm>
          <a:prstGeom prst="rect">
            <a:avLst/>
          </a:prstGeom>
          <a:noFill/>
          <a:ln/>
        </p:spPr>
        <p:txBody>
          <a:bodyPr wrap="square" lIns="0" tIns="0" rIns="0" bIns="0" rtlCol="0" anchor="t"/>
          <a:lstStyle/>
          <a:p>
            <a:pPr indent="0" marL="0">
              <a:buNone/>
            </a:pPr>
            <a:r>
              <a:rPr lang="en-US" sz="1500" dirty="0">
                <a:solidFill>
                  <a:schemeClr val="tx2"/>
                </a:solidFill>
              </a:rPr>
              <a:t>The idea comes from personal knowledge management. For a PM, it holds meetings, decisions and the why behind them, people and what they care about, and product facts.</a:t>
            </a:r>
            <a:endParaRPr lang="en-US" sz="1500" dirty="0"/>
          </a:p>
        </p:txBody>
      </p:sp>
      <p:sp>
        <p:nvSpPr>
          <p:cNvPr id="5" name="card-28"/>
          <p:cNvSpPr/>
          <p:nvPr/>
        </p:nvSpPr>
        <p:spPr>
          <a:xfrm>
            <a:off x="548640" y="3749040"/>
            <a:ext cx="5029200" cy="2377440"/>
          </a:xfrm>
          <a:prstGeom prst="roundRect">
            <a:avLst>
              <a:gd name="adj" fmla="val 4615"/>
            </a:avLst>
          </a:prstGeom>
          <a:solidFill>
            <a:schemeClr val="accent3"/>
          </a:solidFill>
          <a:ln/>
        </p:spPr>
      </p:sp>
      <p:sp>
        <p:nvSpPr>
          <p:cNvPr id="6" name="iconbg-29"/>
          <p:cNvSpPr/>
          <p:nvPr/>
        </p:nvSpPr>
        <p:spPr>
          <a:xfrm>
            <a:off x="822960" y="3977640"/>
            <a:ext cx="548640" cy="548640"/>
          </a:xfrm>
          <a:prstGeom prst="ellipse">
            <a:avLst/>
          </a:prstGeom>
          <a:solidFill>
            <a:schemeClr val="accent1"/>
          </a:solidFill>
          <a:ln/>
        </p:spPr>
      </p:sp>
      <p:pic>
        <p:nvPicPr>
          <p:cNvPr id="7" name="icon-30" descr="preencoded.png">    </p:cNvPr>
          <p:cNvPicPr>
            <a:picLocks noChangeAspect="1"/>
          </p:cNvPicPr>
          <p:nvPr/>
        </p:nvPicPr>
        <p:blipFill>
          <a:blip r:embed="rId1"/>
          <a:stretch>
            <a:fillRect/>
          </a:stretch>
        </p:blipFill>
        <p:spPr>
          <a:xfrm>
            <a:off x="943661" y="4098341"/>
            <a:ext cx="307238" cy="307238"/>
          </a:xfrm>
          <a:prstGeom prst="rect">
            <a:avLst/>
          </a:prstGeom>
        </p:spPr>
      </p:pic>
      <p:sp>
        <p:nvSpPr>
          <p:cNvPr id="8" name="text-31"/>
          <p:cNvSpPr txBox="1"/>
          <p:nvPr/>
        </p:nvSpPr>
        <p:spPr>
          <a:xfrm>
            <a:off x="1508760" y="3977640"/>
            <a:ext cx="3840480" cy="548640"/>
          </a:xfrm>
          <a:prstGeom prst="rect">
            <a:avLst/>
          </a:prstGeom>
          <a:noFill/>
          <a:ln/>
        </p:spPr>
        <p:txBody>
          <a:bodyPr wrap="square" lIns="0" tIns="0" rIns="0" bIns="0" rtlCol="0" anchor="ctr"/>
          <a:lstStyle/>
          <a:p>
            <a:pPr indent="0" marL="0">
              <a:buNone/>
            </a:pPr>
            <a:r>
              <a:rPr lang="en-US" sz="1800" b="1" dirty="0">
                <a:solidFill>
                  <a:schemeClr val="tx1"/>
                </a:solidFill>
              </a:rPr>
              <a:t>The AI version</a:t>
            </a:r>
            <a:endParaRPr lang="en-US" sz="1800" dirty="0"/>
          </a:p>
        </p:txBody>
      </p:sp>
      <p:sp>
        <p:nvSpPr>
          <p:cNvPr id="9" name="text-32"/>
          <p:cNvSpPr txBox="1"/>
          <p:nvPr/>
        </p:nvSpPr>
        <p:spPr>
          <a:xfrm>
            <a:off x="822960" y="4663440"/>
            <a:ext cx="4526280" cy="914400"/>
          </a:xfrm>
          <a:prstGeom prst="rect">
            <a:avLst/>
          </a:prstGeom>
          <a:noFill/>
          <a:ln/>
        </p:spPr>
        <p:txBody>
          <a:bodyPr wrap="square" lIns="0" tIns="0" rIns="0" bIns="0" rtlCol="0" anchor="t"/>
          <a:lstStyle/>
          <a:p>
            <a:pPr indent="0" marL="0">
              <a:buNone/>
            </a:pPr>
            <a:r>
              <a:rPr lang="en-US" sz="1500" dirty="0">
                <a:solidFill>
                  <a:schemeClr val="tx1"/>
                </a:solidFill>
              </a:rPr>
              <a:t>The agent </a:t>
            </a:r>
            <a:pPr indent="0" marL="0">
              <a:buNone/>
            </a:pPr>
            <a:r>
              <a:rPr lang="en-US" sz="1500" b="1" dirty="0">
                <a:solidFill>
                  <a:schemeClr val="accent1"/>
                </a:solidFill>
              </a:rPr>
              <a:t>reads</a:t>
            </a:r>
            <a:pPr indent="0" marL="0">
              <a:buNone/>
            </a:pPr>
            <a:r>
              <a:rPr lang="en-US" sz="1500" dirty="0">
                <a:solidFill>
                  <a:schemeClr val="tx1"/>
                </a:solidFill>
              </a:rPr>
              <a:t> the brain before it answers and </a:t>
            </a:r>
            <a:pPr indent="0" marL="0">
              <a:buNone/>
            </a:pPr>
            <a:r>
              <a:rPr lang="en-US" sz="1500" b="1" dirty="0">
                <a:solidFill>
                  <a:schemeClr val="accent1"/>
                </a:solidFill>
              </a:rPr>
              <a:t>writes</a:t>
            </a:r>
            <a:pPr indent="0" marL="0">
              <a:buNone/>
            </a:pPr>
            <a:r>
              <a:rPr lang="en-US" sz="1500" dirty="0">
                <a:solidFill>
                  <a:schemeClr val="tx1"/>
                </a:solidFill>
              </a:rPr>
              <a:t> to it after it works. Knowledge compounds instead of evaporating after each chat.</a:t>
            </a:r>
            <a:endParaRPr lang="en-US" sz="1500" dirty="0"/>
          </a:p>
        </p:txBody>
      </p:sp>
      <p:sp>
        <p:nvSpPr>
          <p:cNvPr id="10" name="chip-33"/>
          <p:cNvSpPr/>
          <p:nvPr/>
        </p:nvSpPr>
        <p:spPr>
          <a:xfrm>
            <a:off x="822960" y="5623560"/>
            <a:ext cx="2148840" cy="347472"/>
          </a:xfrm>
          <a:prstGeom prst="roundRect">
            <a:avLst>
              <a:gd name="adj" fmla="val 50000"/>
            </a:avLst>
          </a:prstGeom>
          <a:solidFill>
            <a:schemeClr val="bg1"/>
          </a:solidFill>
          <a:ln/>
        </p:spPr>
      </p:sp>
      <p:sp>
        <p:nvSpPr>
          <p:cNvPr id="11" name="text-34"/>
          <p:cNvSpPr txBox="1"/>
          <p:nvPr/>
        </p:nvSpPr>
        <p:spPr>
          <a:xfrm>
            <a:off x="822960" y="5623560"/>
            <a:ext cx="2148840" cy="347472"/>
          </a:xfrm>
          <a:prstGeom prst="rect">
            <a:avLst/>
          </a:prstGeom>
          <a:noFill/>
          <a:ln/>
        </p:spPr>
        <p:txBody>
          <a:bodyPr wrap="square" lIns="0" tIns="0" rIns="0" bIns="0" rtlCol="0" anchor="ctr"/>
          <a:lstStyle/>
          <a:p>
            <a:pPr algn="ctr" indent="0" marL="0">
              <a:buNone/>
            </a:pPr>
            <a:r>
              <a:rPr lang="en-US" sz="1200" b="1" dirty="0">
                <a:solidFill>
                  <a:schemeClr val="accent1"/>
                </a:solidFill>
              </a:rPr>
              <a:t>1 · Read before answering</a:t>
            </a:r>
            <a:endParaRPr lang="en-US" sz="1200" dirty="0"/>
          </a:p>
        </p:txBody>
      </p:sp>
      <p:sp>
        <p:nvSpPr>
          <p:cNvPr id="12" name="chip-35"/>
          <p:cNvSpPr/>
          <p:nvPr/>
        </p:nvSpPr>
        <p:spPr>
          <a:xfrm>
            <a:off x="3108960" y="5623560"/>
            <a:ext cx="2148840" cy="347472"/>
          </a:xfrm>
          <a:prstGeom prst="roundRect">
            <a:avLst>
              <a:gd name="adj" fmla="val 50000"/>
            </a:avLst>
          </a:prstGeom>
          <a:solidFill>
            <a:schemeClr val="bg1"/>
          </a:solidFill>
          <a:ln/>
        </p:spPr>
      </p:sp>
      <p:sp>
        <p:nvSpPr>
          <p:cNvPr id="13" name="text-36"/>
          <p:cNvSpPr txBox="1"/>
          <p:nvPr/>
        </p:nvSpPr>
        <p:spPr>
          <a:xfrm>
            <a:off x="3108960" y="5623560"/>
            <a:ext cx="2148840" cy="347472"/>
          </a:xfrm>
          <a:prstGeom prst="rect">
            <a:avLst/>
          </a:prstGeom>
          <a:noFill/>
          <a:ln/>
        </p:spPr>
        <p:txBody>
          <a:bodyPr wrap="square" lIns="0" tIns="0" rIns="0" bIns="0" rtlCol="0" anchor="ctr"/>
          <a:lstStyle/>
          <a:p>
            <a:pPr algn="ctr" indent="0" marL="0">
              <a:buNone/>
            </a:pPr>
            <a:r>
              <a:rPr lang="en-US" sz="1200" b="1" dirty="0">
                <a:solidFill>
                  <a:schemeClr val="accent1"/>
                </a:solidFill>
              </a:rPr>
              <a:t>2 · Write after working</a:t>
            </a:r>
            <a:endParaRPr lang="en-US" sz="1200" dirty="0"/>
          </a:p>
        </p:txBody>
      </p:sp>
      <p:sp>
        <p:nvSpPr>
          <p:cNvPr id="14" name="card-37"/>
          <p:cNvSpPr/>
          <p:nvPr/>
        </p:nvSpPr>
        <p:spPr>
          <a:xfrm>
            <a:off x="5989320" y="1371600"/>
            <a:ext cx="2468880" cy="1463040"/>
          </a:xfrm>
          <a:prstGeom prst="roundRect">
            <a:avLst>
              <a:gd name="adj" fmla="val 7500"/>
            </a:avLst>
          </a:prstGeom>
          <a:solidFill>
            <a:schemeClr val="bg2"/>
          </a:solidFill>
          <a:ln/>
        </p:spPr>
      </p:sp>
      <p:sp>
        <p:nvSpPr>
          <p:cNvPr id="15" name="iconbg-38"/>
          <p:cNvSpPr/>
          <p:nvPr/>
        </p:nvSpPr>
        <p:spPr>
          <a:xfrm>
            <a:off x="6217920" y="1600200"/>
            <a:ext cx="457200" cy="457200"/>
          </a:xfrm>
          <a:prstGeom prst="ellipse">
            <a:avLst/>
          </a:prstGeom>
          <a:solidFill>
            <a:schemeClr val="tx1"/>
          </a:solidFill>
          <a:ln/>
        </p:spPr>
      </p:sp>
      <p:pic>
        <p:nvPicPr>
          <p:cNvPr id="16" name="icon-39" descr="preencoded.png">    </p:cNvPr>
          <p:cNvPicPr>
            <a:picLocks noChangeAspect="1"/>
          </p:cNvPicPr>
          <p:nvPr/>
        </p:nvPicPr>
        <p:blipFill>
          <a:blip r:embed="rId2"/>
          <a:stretch>
            <a:fillRect/>
          </a:stretch>
        </p:blipFill>
        <p:spPr>
          <a:xfrm>
            <a:off x="6318504" y="1700784"/>
            <a:ext cx="256032" cy="256032"/>
          </a:xfrm>
          <a:prstGeom prst="rect">
            <a:avLst/>
          </a:prstGeom>
        </p:spPr>
      </p:pic>
      <p:sp>
        <p:nvSpPr>
          <p:cNvPr id="17" name="text-40"/>
          <p:cNvSpPr txBox="1"/>
          <p:nvPr/>
        </p:nvSpPr>
        <p:spPr>
          <a:xfrm>
            <a:off x="6812280" y="1600200"/>
            <a:ext cx="1508760" cy="457200"/>
          </a:xfrm>
          <a:prstGeom prst="rect">
            <a:avLst/>
          </a:prstGeom>
          <a:noFill/>
          <a:ln/>
        </p:spPr>
        <p:txBody>
          <a:bodyPr wrap="square" lIns="0" tIns="0" rIns="0" bIns="0" rtlCol="0" anchor="ctr"/>
          <a:lstStyle/>
          <a:p>
            <a:pPr indent="0" marL="0">
              <a:buNone/>
            </a:pPr>
            <a:r>
              <a:rPr lang="en-US" sz="1800" b="1" dirty="0">
                <a:solidFill>
                  <a:schemeClr val="tx1"/>
                </a:solidFill>
              </a:rPr>
              <a:t>Capture</a:t>
            </a:r>
            <a:endParaRPr lang="en-US" sz="1800" dirty="0"/>
          </a:p>
        </p:txBody>
      </p:sp>
      <p:sp>
        <p:nvSpPr>
          <p:cNvPr id="18" name="text-41"/>
          <p:cNvSpPr txBox="1"/>
          <p:nvPr/>
        </p:nvSpPr>
        <p:spPr>
          <a:xfrm>
            <a:off x="6217920" y="2176272"/>
            <a:ext cx="2057400" cy="594360"/>
          </a:xfrm>
          <a:prstGeom prst="rect">
            <a:avLst/>
          </a:prstGeom>
          <a:noFill/>
          <a:ln/>
        </p:spPr>
        <p:txBody>
          <a:bodyPr wrap="square" lIns="0" tIns="0" rIns="0" bIns="0" rtlCol="0" anchor="t"/>
          <a:lstStyle/>
          <a:p>
            <a:pPr indent="0" marL="0">
              <a:buNone/>
            </a:pPr>
            <a:r>
              <a:rPr lang="en-US" sz="1300" dirty="0">
                <a:solidFill>
                  <a:schemeClr val="tx2"/>
                </a:solidFill>
              </a:rPr>
              <a:t>Meeting transcripts and notes go into the inbox</a:t>
            </a:r>
            <a:endParaRPr lang="en-US" sz="1300" dirty="0"/>
          </a:p>
        </p:txBody>
      </p:sp>
      <p:sp>
        <p:nvSpPr>
          <p:cNvPr id="19" name="card-42"/>
          <p:cNvSpPr/>
          <p:nvPr/>
        </p:nvSpPr>
        <p:spPr>
          <a:xfrm>
            <a:off x="9144000" y="1371600"/>
            <a:ext cx="2468880" cy="1463040"/>
          </a:xfrm>
          <a:prstGeom prst="roundRect">
            <a:avLst>
              <a:gd name="adj" fmla="val 7500"/>
            </a:avLst>
          </a:prstGeom>
          <a:solidFill>
            <a:schemeClr val="bg2"/>
          </a:solidFill>
          <a:ln/>
        </p:spPr>
      </p:sp>
      <p:sp>
        <p:nvSpPr>
          <p:cNvPr id="20" name="iconbg-43"/>
          <p:cNvSpPr/>
          <p:nvPr/>
        </p:nvSpPr>
        <p:spPr>
          <a:xfrm>
            <a:off x="9372600" y="1600200"/>
            <a:ext cx="457200" cy="457200"/>
          </a:xfrm>
          <a:prstGeom prst="ellipse">
            <a:avLst/>
          </a:prstGeom>
          <a:solidFill>
            <a:schemeClr val="tx1"/>
          </a:solidFill>
          <a:ln/>
        </p:spPr>
      </p:sp>
      <p:pic>
        <p:nvPicPr>
          <p:cNvPr id="21" name="icon-44" descr="preencoded.png">    </p:cNvPr>
          <p:cNvPicPr>
            <a:picLocks noChangeAspect="1"/>
          </p:cNvPicPr>
          <p:nvPr/>
        </p:nvPicPr>
        <p:blipFill>
          <a:blip r:embed="rId3"/>
          <a:stretch>
            <a:fillRect/>
          </a:stretch>
        </p:blipFill>
        <p:spPr>
          <a:xfrm>
            <a:off x="9473184" y="1700784"/>
            <a:ext cx="256032" cy="256032"/>
          </a:xfrm>
          <a:prstGeom prst="rect">
            <a:avLst/>
          </a:prstGeom>
        </p:spPr>
      </p:pic>
      <p:sp>
        <p:nvSpPr>
          <p:cNvPr id="22" name="text-45"/>
          <p:cNvSpPr txBox="1"/>
          <p:nvPr/>
        </p:nvSpPr>
        <p:spPr>
          <a:xfrm>
            <a:off x="9966960" y="1600200"/>
            <a:ext cx="1508760" cy="457200"/>
          </a:xfrm>
          <a:prstGeom prst="rect">
            <a:avLst/>
          </a:prstGeom>
          <a:noFill/>
          <a:ln/>
        </p:spPr>
        <p:txBody>
          <a:bodyPr wrap="square" lIns="0" tIns="0" rIns="0" bIns="0" rtlCol="0" anchor="ctr"/>
          <a:lstStyle/>
          <a:p>
            <a:pPr indent="0" marL="0">
              <a:buNone/>
            </a:pPr>
            <a:r>
              <a:rPr lang="en-US" sz="1800" b="1" dirty="0">
                <a:solidFill>
                  <a:schemeClr val="tx1"/>
                </a:solidFill>
              </a:rPr>
              <a:t>Organise</a:t>
            </a:r>
            <a:endParaRPr lang="en-US" sz="1800" dirty="0"/>
          </a:p>
        </p:txBody>
      </p:sp>
      <p:sp>
        <p:nvSpPr>
          <p:cNvPr id="23" name="text-46"/>
          <p:cNvSpPr txBox="1"/>
          <p:nvPr/>
        </p:nvSpPr>
        <p:spPr>
          <a:xfrm>
            <a:off x="9372600" y="2176272"/>
            <a:ext cx="2057400" cy="594360"/>
          </a:xfrm>
          <a:prstGeom prst="rect">
            <a:avLst/>
          </a:prstGeom>
          <a:noFill/>
          <a:ln/>
        </p:spPr>
        <p:txBody>
          <a:bodyPr wrap="square" lIns="0" tIns="0" rIns="0" bIns="0" rtlCol="0" anchor="t"/>
          <a:lstStyle/>
          <a:p>
            <a:pPr indent="0" marL="0">
              <a:buNone/>
            </a:pPr>
            <a:r>
              <a:rPr lang="en-US" sz="1300" dirty="0">
                <a:solidFill>
                  <a:schemeClr val="tx2"/>
                </a:solidFill>
              </a:rPr>
              <a:t>Meeting notes, decisions and topic pages</a:t>
            </a:r>
            <a:endParaRPr lang="en-US" sz="1300" dirty="0"/>
          </a:p>
        </p:txBody>
      </p:sp>
      <p:sp>
        <p:nvSpPr>
          <p:cNvPr id="24" name="card-47"/>
          <p:cNvSpPr/>
          <p:nvPr/>
        </p:nvSpPr>
        <p:spPr>
          <a:xfrm>
            <a:off x="9144000" y="3246120"/>
            <a:ext cx="2468880" cy="1463040"/>
          </a:xfrm>
          <a:prstGeom prst="roundRect">
            <a:avLst>
              <a:gd name="adj" fmla="val 7500"/>
            </a:avLst>
          </a:prstGeom>
          <a:solidFill>
            <a:schemeClr val="bg2"/>
          </a:solidFill>
          <a:ln/>
        </p:spPr>
      </p:sp>
      <p:sp>
        <p:nvSpPr>
          <p:cNvPr id="25" name="iconbg-48"/>
          <p:cNvSpPr/>
          <p:nvPr/>
        </p:nvSpPr>
        <p:spPr>
          <a:xfrm>
            <a:off x="9372600" y="3474720"/>
            <a:ext cx="457200" cy="457200"/>
          </a:xfrm>
          <a:prstGeom prst="ellipse">
            <a:avLst/>
          </a:prstGeom>
          <a:solidFill>
            <a:schemeClr val="tx1"/>
          </a:solidFill>
          <a:ln/>
        </p:spPr>
      </p:sp>
      <p:pic>
        <p:nvPicPr>
          <p:cNvPr id="26" name="icon-49" descr="preencoded.png">    </p:cNvPr>
          <p:cNvPicPr>
            <a:picLocks noChangeAspect="1"/>
          </p:cNvPicPr>
          <p:nvPr/>
        </p:nvPicPr>
        <p:blipFill>
          <a:blip r:embed="rId4"/>
          <a:stretch>
            <a:fillRect/>
          </a:stretch>
        </p:blipFill>
        <p:spPr>
          <a:xfrm>
            <a:off x="9473184" y="3575304"/>
            <a:ext cx="256032" cy="256032"/>
          </a:xfrm>
          <a:prstGeom prst="rect">
            <a:avLst/>
          </a:prstGeom>
        </p:spPr>
      </p:pic>
      <p:sp>
        <p:nvSpPr>
          <p:cNvPr id="27" name="text-50"/>
          <p:cNvSpPr txBox="1"/>
          <p:nvPr/>
        </p:nvSpPr>
        <p:spPr>
          <a:xfrm>
            <a:off x="9966960" y="3474720"/>
            <a:ext cx="1508760" cy="457200"/>
          </a:xfrm>
          <a:prstGeom prst="rect">
            <a:avLst/>
          </a:prstGeom>
          <a:noFill/>
          <a:ln/>
        </p:spPr>
        <p:txBody>
          <a:bodyPr wrap="square" lIns="0" tIns="0" rIns="0" bIns="0" rtlCol="0" anchor="ctr"/>
          <a:lstStyle/>
          <a:p>
            <a:pPr indent="0" marL="0">
              <a:buNone/>
            </a:pPr>
            <a:r>
              <a:rPr lang="en-US" sz="1800" b="1" dirty="0">
                <a:solidFill>
                  <a:schemeClr val="tx1"/>
                </a:solidFill>
              </a:rPr>
              <a:t>Recall</a:t>
            </a:r>
            <a:endParaRPr lang="en-US" sz="1800" dirty="0"/>
          </a:p>
        </p:txBody>
      </p:sp>
      <p:sp>
        <p:nvSpPr>
          <p:cNvPr id="28" name="text-51"/>
          <p:cNvSpPr txBox="1"/>
          <p:nvPr/>
        </p:nvSpPr>
        <p:spPr>
          <a:xfrm>
            <a:off x="9372600" y="4050792"/>
            <a:ext cx="2057400" cy="594360"/>
          </a:xfrm>
          <a:prstGeom prst="rect">
            <a:avLst/>
          </a:prstGeom>
          <a:noFill/>
          <a:ln/>
        </p:spPr>
        <p:txBody>
          <a:bodyPr wrap="square" lIns="0" tIns="0" rIns="0" bIns="0" rtlCol="0" anchor="t"/>
          <a:lstStyle/>
          <a:p>
            <a:pPr indent="0" marL="0">
              <a:buNone/>
            </a:pPr>
            <a:r>
              <a:rPr lang="en-US" sz="1300" dirty="0">
                <a:solidFill>
                  <a:schemeClr val="tx2"/>
                </a:solidFill>
              </a:rPr>
              <a:t>/ask answers with the source of every fact</a:t>
            </a:r>
            <a:endParaRPr lang="en-US" sz="1300" dirty="0"/>
          </a:p>
        </p:txBody>
      </p:sp>
      <p:sp>
        <p:nvSpPr>
          <p:cNvPr id="29" name="card-52"/>
          <p:cNvSpPr/>
          <p:nvPr/>
        </p:nvSpPr>
        <p:spPr>
          <a:xfrm>
            <a:off x="5989320" y="3246120"/>
            <a:ext cx="2468880" cy="1463040"/>
          </a:xfrm>
          <a:prstGeom prst="roundRect">
            <a:avLst>
              <a:gd name="adj" fmla="val 7500"/>
            </a:avLst>
          </a:prstGeom>
          <a:solidFill>
            <a:schemeClr val="tx1"/>
          </a:solidFill>
          <a:ln/>
        </p:spPr>
      </p:sp>
      <p:sp>
        <p:nvSpPr>
          <p:cNvPr id="30" name="iconbg-53"/>
          <p:cNvSpPr/>
          <p:nvPr/>
        </p:nvSpPr>
        <p:spPr>
          <a:xfrm>
            <a:off x="6217920" y="3474720"/>
            <a:ext cx="457200" cy="457200"/>
          </a:xfrm>
          <a:prstGeom prst="ellipse">
            <a:avLst/>
          </a:prstGeom>
          <a:solidFill>
            <a:schemeClr val="accent1"/>
          </a:solidFill>
          <a:ln/>
        </p:spPr>
      </p:sp>
      <p:pic>
        <p:nvPicPr>
          <p:cNvPr id="31" name="icon-54" descr="preencoded.png">    </p:cNvPr>
          <p:cNvPicPr>
            <a:picLocks noChangeAspect="1"/>
          </p:cNvPicPr>
          <p:nvPr/>
        </p:nvPicPr>
        <p:blipFill>
          <a:blip r:embed="rId5"/>
          <a:stretch>
            <a:fillRect/>
          </a:stretch>
        </p:blipFill>
        <p:spPr>
          <a:xfrm>
            <a:off x="6318504" y="3575304"/>
            <a:ext cx="256032" cy="256032"/>
          </a:xfrm>
          <a:prstGeom prst="rect">
            <a:avLst/>
          </a:prstGeom>
        </p:spPr>
      </p:pic>
      <p:sp>
        <p:nvSpPr>
          <p:cNvPr id="32" name="text-55"/>
          <p:cNvSpPr txBox="1"/>
          <p:nvPr/>
        </p:nvSpPr>
        <p:spPr>
          <a:xfrm>
            <a:off x="6812280" y="3474720"/>
            <a:ext cx="1508760" cy="457200"/>
          </a:xfrm>
          <a:prstGeom prst="rect">
            <a:avLst/>
          </a:prstGeom>
          <a:noFill/>
          <a:ln/>
        </p:spPr>
        <p:txBody>
          <a:bodyPr wrap="square" lIns="0" tIns="0" rIns="0" bIns="0" rtlCol="0" anchor="ctr"/>
          <a:lstStyle/>
          <a:p>
            <a:pPr indent="0" marL="0">
              <a:buNone/>
            </a:pPr>
            <a:r>
              <a:rPr lang="en-US" sz="1800" b="1" dirty="0">
                <a:solidFill>
                  <a:schemeClr val="bg1"/>
                </a:solidFill>
              </a:rPr>
              <a:t>Use</a:t>
            </a:r>
            <a:endParaRPr lang="en-US" sz="1800" dirty="0"/>
          </a:p>
        </p:txBody>
      </p:sp>
      <p:sp>
        <p:nvSpPr>
          <p:cNvPr id="33" name="text-56"/>
          <p:cNvSpPr txBox="1"/>
          <p:nvPr/>
        </p:nvSpPr>
        <p:spPr>
          <a:xfrm>
            <a:off x="6217920" y="4050792"/>
            <a:ext cx="2057400" cy="594360"/>
          </a:xfrm>
          <a:prstGeom prst="rect">
            <a:avLst/>
          </a:prstGeom>
          <a:noFill/>
          <a:ln/>
        </p:spPr>
        <p:txBody>
          <a:bodyPr wrap="square" lIns="0" tIns="0" rIns="0" bIns="0" rtlCol="0" anchor="t"/>
          <a:lstStyle/>
          <a:p>
            <a:pPr indent="0" marL="0">
              <a:buNone/>
            </a:pPr>
            <a:r>
              <a:rPr lang="en-US" sz="1300" dirty="0">
                <a:solidFill>
                  <a:schemeClr val="accent2"/>
                </a:solidFill>
              </a:rPr>
              <a:t>Skills turn that knowledge into real work</a:t>
            </a:r>
            <a:endParaRPr lang="en-US" sz="1300" dirty="0"/>
          </a:p>
        </p:txBody>
      </p:sp>
      <p:sp>
        <p:nvSpPr>
          <p:cNvPr id="34" name="arrow-57"/>
          <p:cNvSpPr/>
          <p:nvPr/>
        </p:nvSpPr>
        <p:spPr>
          <a:xfrm>
            <a:off x="8503920" y="2103120"/>
            <a:ext cx="594360" cy="0"/>
          </a:xfrm>
          <a:prstGeom prst="line">
            <a:avLst/>
          </a:prstGeom>
          <a:noFill/>
          <a:ln w="25400">
            <a:solidFill>
              <a:schemeClr val="accent1"/>
            </a:solidFill>
            <a:prstDash val="solid"/>
            <a:tailEnd type="triangle"/>
          </a:ln>
        </p:spPr>
      </p:sp>
      <p:sp>
        <p:nvSpPr>
          <p:cNvPr id="35" name="arrow-58"/>
          <p:cNvSpPr/>
          <p:nvPr/>
        </p:nvSpPr>
        <p:spPr>
          <a:xfrm>
            <a:off x="10378440" y="2862072"/>
            <a:ext cx="0" cy="338328"/>
          </a:xfrm>
          <a:prstGeom prst="line">
            <a:avLst/>
          </a:prstGeom>
          <a:noFill/>
          <a:ln w="25400">
            <a:solidFill>
              <a:schemeClr val="accent1"/>
            </a:solidFill>
            <a:prstDash val="solid"/>
            <a:tailEnd type="triangle"/>
          </a:ln>
        </p:spPr>
      </p:sp>
      <p:sp>
        <p:nvSpPr>
          <p:cNvPr id="36" name="arrow-59"/>
          <p:cNvSpPr/>
          <p:nvPr/>
        </p:nvSpPr>
        <p:spPr>
          <a:xfrm flipH="1">
            <a:off x="8503920" y="3977640"/>
            <a:ext cx="594360" cy="0"/>
          </a:xfrm>
          <a:prstGeom prst="line">
            <a:avLst/>
          </a:prstGeom>
          <a:noFill/>
          <a:ln w="25400">
            <a:solidFill>
              <a:schemeClr val="accent1"/>
            </a:solidFill>
            <a:prstDash val="solid"/>
            <a:tailEnd type="triangle"/>
          </a:ln>
        </p:spPr>
      </p:sp>
      <p:sp>
        <p:nvSpPr>
          <p:cNvPr id="37" name="arrow-60"/>
          <p:cNvSpPr/>
          <p:nvPr/>
        </p:nvSpPr>
        <p:spPr>
          <a:xfrm flipV="1">
            <a:off x="7223760" y="2862072"/>
            <a:ext cx="0" cy="338328"/>
          </a:xfrm>
          <a:prstGeom prst="line">
            <a:avLst/>
          </a:prstGeom>
          <a:noFill/>
          <a:ln w="25400">
            <a:solidFill>
              <a:schemeClr val="accent1"/>
            </a:solidFill>
            <a:prstDash val="solid"/>
            <a:tailEnd type="triangle"/>
          </a:ln>
        </p:spPr>
      </p:sp>
      <p:sp>
        <p:nvSpPr>
          <p:cNvPr id="38" name="text-61"/>
          <p:cNvSpPr txBox="1"/>
          <p:nvPr/>
        </p:nvSpPr>
        <p:spPr>
          <a:xfrm>
            <a:off x="7315200" y="2898648"/>
            <a:ext cx="1280160" cy="274320"/>
          </a:xfrm>
          <a:prstGeom prst="rect">
            <a:avLst/>
          </a:prstGeom>
          <a:noFill/>
          <a:ln/>
        </p:spPr>
        <p:txBody>
          <a:bodyPr wrap="square" lIns="0" tIns="0" rIns="0" bIns="0" rtlCol="0" anchor="ctr"/>
          <a:lstStyle/>
          <a:p>
            <a:pPr indent="0" marL="0">
              <a:buNone/>
            </a:pPr>
            <a:r>
              <a:rPr lang="en-US" sz="1200" i="1" dirty="0">
                <a:solidFill>
                  <a:schemeClr val="accent1"/>
                </a:solidFill>
              </a:rPr>
              <a:t>writes back</a:t>
            </a:r>
            <a:endParaRPr lang="en-US" sz="1200" dirty="0"/>
          </a:p>
        </p:txBody>
      </p:sp>
      <p:sp>
        <p:nvSpPr>
          <p:cNvPr id="39" name="card-62"/>
          <p:cNvSpPr/>
          <p:nvPr/>
        </p:nvSpPr>
        <p:spPr>
          <a:xfrm>
            <a:off x="5989320" y="4937760"/>
            <a:ext cx="2697480" cy="1188720"/>
          </a:xfrm>
          <a:prstGeom prst="roundRect">
            <a:avLst>
              <a:gd name="adj" fmla="val 9231"/>
            </a:avLst>
          </a:prstGeom>
          <a:solidFill>
            <a:schemeClr val="bg1"/>
          </a:solidFill>
          <a:ln w="12700">
            <a:solidFill>
              <a:schemeClr val="accent2"/>
            </a:solidFill>
            <a:prstDash val="solid"/>
          </a:ln>
        </p:spPr>
      </p:sp>
      <p:sp>
        <p:nvSpPr>
          <p:cNvPr id="40" name="text-63"/>
          <p:cNvSpPr txBox="1"/>
          <p:nvPr/>
        </p:nvSpPr>
        <p:spPr>
          <a:xfrm>
            <a:off x="6172200" y="5029200"/>
            <a:ext cx="2377440" cy="1005840"/>
          </a:xfrm>
          <a:prstGeom prst="rect">
            <a:avLst/>
          </a:prstGeom>
          <a:noFill/>
          <a:ln/>
        </p:spPr>
        <p:txBody>
          <a:bodyPr wrap="square" lIns="0" tIns="0" rIns="0" bIns="0" rtlCol="0" anchor="ctr"/>
          <a:lstStyle/>
          <a:p>
            <a:pPr indent="0" marL="0">
              <a:buNone/>
            </a:pPr>
            <a:r>
              <a:rPr lang="en-US" sz="1300" b="1" dirty="0">
                <a:solidFill>
                  <a:schemeClr val="tx1"/>
                </a:solidFill>
              </a:rPr>
              <a:t>Plain markdown files</a:t>
            </a:r>
            <a:endParaRPr lang="en-US" sz="1300" dirty="0"/>
          </a:p>
          <a:p>
            <a:pPr indent="0" marL="0">
              <a:buNone/>
            </a:pPr>
            <a:r>
              <a:rPr lang="en-US" sz="1300" dirty="0">
                <a:solidFill>
                  <a:schemeClr val="tx1"/>
                </a:solidFill>
              </a:rPr>
              <a:t>that you own, on your laptop</a:t>
            </a:r>
            <a:endParaRPr lang="en-US" sz="1300" dirty="0"/>
          </a:p>
        </p:txBody>
      </p:sp>
      <p:sp>
        <p:nvSpPr>
          <p:cNvPr id="41" name="card-64"/>
          <p:cNvSpPr/>
          <p:nvPr/>
        </p:nvSpPr>
        <p:spPr>
          <a:xfrm>
            <a:off x="8915400" y="4937760"/>
            <a:ext cx="2697480" cy="1188720"/>
          </a:xfrm>
          <a:prstGeom prst="roundRect">
            <a:avLst>
              <a:gd name="adj" fmla="val 9231"/>
            </a:avLst>
          </a:prstGeom>
          <a:solidFill>
            <a:schemeClr val="bg1"/>
          </a:solidFill>
          <a:ln w="12700">
            <a:solidFill>
              <a:schemeClr val="accent2"/>
            </a:solidFill>
            <a:prstDash val="solid"/>
          </a:ln>
        </p:spPr>
      </p:sp>
      <p:sp>
        <p:nvSpPr>
          <p:cNvPr id="42" name="text-65"/>
          <p:cNvSpPr txBox="1"/>
          <p:nvPr/>
        </p:nvSpPr>
        <p:spPr>
          <a:xfrm>
            <a:off x="9098280" y="5029200"/>
            <a:ext cx="2377440" cy="1005840"/>
          </a:xfrm>
          <a:prstGeom prst="rect">
            <a:avLst/>
          </a:prstGeom>
          <a:noFill/>
          <a:ln/>
        </p:spPr>
        <p:txBody>
          <a:bodyPr wrap="square" lIns="0" tIns="0" rIns="0" bIns="0" rtlCol="0" anchor="ctr"/>
          <a:lstStyle/>
          <a:p>
            <a:pPr indent="0" marL="0">
              <a:buNone/>
            </a:pPr>
            <a:r>
              <a:rPr lang="en-US" sz="1200" b="1" dirty="0">
                <a:solidFill>
                  <a:schemeClr val="tx1"/>
                </a:solidFill>
              </a:rPr>
              <a:t>Every statement typed</a:t>
            </a:r>
            <a:endParaRPr lang="en-US" sz="1200" dirty="0"/>
          </a:p>
          <a:p>
            <a:pPr indent="0" marL="0">
              <a:buNone/>
            </a:pPr>
            <a:r>
              <a:rPr lang="en-US" sz="1200" dirty="0">
                <a:solidFill>
                  <a:schemeClr val="tx1"/>
                </a:solidFill>
              </a:rPr>
              <a:t>decision, observation, hypothesis, assumption — and linked to its source</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1"/>
                </a:solidFill>
              </a:rPr>
              <a:t>How the memory stays healthy</a:t>
            </a:r>
            <a:endParaRPr lang="en-US" sz="3600" dirty="0"/>
          </a:p>
        </p:txBody>
      </p:sp>
      <p:sp>
        <p:nvSpPr>
          <p:cNvPr id="3" name="card-66"/>
          <p:cNvSpPr/>
          <p:nvPr/>
        </p:nvSpPr>
        <p:spPr>
          <a:xfrm>
            <a:off x="548640" y="1371600"/>
            <a:ext cx="11064240" cy="3154680"/>
          </a:xfrm>
          <a:prstGeom prst="roundRect">
            <a:avLst>
              <a:gd name="adj" fmla="val 3478"/>
            </a:avLst>
          </a:prstGeom>
          <a:solidFill>
            <a:schemeClr val="accent5"/>
          </a:solidFill>
          <a:ln/>
        </p:spPr>
      </p:sp>
      <p:sp>
        <p:nvSpPr>
          <p:cNvPr id="4" name="iconbg-67"/>
          <p:cNvSpPr/>
          <p:nvPr/>
        </p:nvSpPr>
        <p:spPr>
          <a:xfrm>
            <a:off x="868680" y="1645920"/>
            <a:ext cx="640080" cy="640080"/>
          </a:xfrm>
          <a:prstGeom prst="ellipse">
            <a:avLst/>
          </a:prstGeom>
          <a:solidFill>
            <a:schemeClr val="accent1"/>
          </a:solidFill>
          <a:ln/>
        </p:spPr>
      </p:sp>
      <p:pic>
        <p:nvPicPr>
          <p:cNvPr id="5" name="icon-68" descr="preencoded.png">    </p:cNvPr>
          <p:cNvPicPr>
            <a:picLocks noChangeAspect="1"/>
          </p:cNvPicPr>
          <p:nvPr/>
        </p:nvPicPr>
        <p:blipFill>
          <a:blip r:embed="rId1"/>
          <a:stretch>
            <a:fillRect/>
          </a:stretch>
        </p:blipFill>
        <p:spPr>
          <a:xfrm>
            <a:off x="1009498" y="1786738"/>
            <a:ext cx="358445" cy="358445"/>
          </a:xfrm>
          <a:prstGeom prst="rect">
            <a:avLst/>
          </a:prstGeom>
        </p:spPr>
      </p:pic>
      <p:sp>
        <p:nvSpPr>
          <p:cNvPr id="6" name="text-69"/>
          <p:cNvSpPr txBox="1"/>
          <p:nvPr/>
        </p:nvSpPr>
        <p:spPr>
          <a:xfrm>
            <a:off x="868680" y="2423160"/>
            <a:ext cx="3931920" cy="777240"/>
          </a:xfrm>
          <a:prstGeom prst="rect">
            <a:avLst/>
          </a:prstGeom>
          <a:noFill/>
          <a:ln/>
        </p:spPr>
        <p:txBody>
          <a:bodyPr wrap="square" lIns="0" tIns="0" rIns="0" bIns="0" rtlCol="0" anchor="t"/>
          <a:lstStyle/>
          <a:p>
            <a:pPr indent="0" marL="0">
              <a:buNone/>
            </a:pPr>
            <a:r>
              <a:rPr lang="en-US" sz="2200" b="1" dirty="0">
                <a:solidFill>
                  <a:schemeClr val="bg1"/>
                </a:solidFill>
              </a:rPr>
              <a:t>Dreaming: why a brain needs sleep</a:t>
            </a:r>
            <a:endParaRPr lang="en-US" sz="2200" dirty="0"/>
          </a:p>
        </p:txBody>
      </p:sp>
      <p:sp>
        <p:nvSpPr>
          <p:cNvPr id="7" name="text-70"/>
          <p:cNvSpPr txBox="1"/>
          <p:nvPr/>
        </p:nvSpPr>
        <p:spPr>
          <a:xfrm>
            <a:off x="868680" y="3200400"/>
            <a:ext cx="3840480" cy="914400"/>
          </a:xfrm>
          <a:prstGeom prst="rect">
            <a:avLst/>
          </a:prstGeom>
          <a:noFill/>
          <a:ln/>
        </p:spPr>
        <p:txBody>
          <a:bodyPr wrap="square" lIns="0" tIns="0" rIns="0" bIns="0" rtlCol="0" anchor="t"/>
          <a:lstStyle/>
          <a:p>
            <a:pPr indent="0" marL="0">
              <a:buNone/>
            </a:pPr>
            <a:r>
              <a:rPr lang="en-US" sz="1400" dirty="0">
                <a:solidFill>
                  <a:schemeClr val="accent2"/>
                </a:solidFill>
              </a:rPr>
              <a:t>People consolidate memories while they sleep. AI memory needs the same, or it fills up with duplicates and contradictions.</a:t>
            </a:r>
            <a:endParaRPr lang="en-US" sz="1400" dirty="0"/>
          </a:p>
        </p:txBody>
      </p:sp>
      <p:sp>
        <p:nvSpPr>
          <p:cNvPr id="8" name="chip-71"/>
          <p:cNvSpPr/>
          <p:nvPr/>
        </p:nvSpPr>
        <p:spPr>
          <a:xfrm>
            <a:off x="868680" y="4041648"/>
            <a:ext cx="1737360" cy="329184"/>
          </a:xfrm>
          <a:prstGeom prst="roundRect">
            <a:avLst>
              <a:gd name="adj" fmla="val 50000"/>
            </a:avLst>
          </a:prstGeom>
          <a:solidFill>
            <a:schemeClr val="accent1"/>
          </a:solidFill>
          <a:ln/>
        </p:spPr>
      </p:sp>
      <p:sp>
        <p:nvSpPr>
          <p:cNvPr id="9" name="text-72"/>
          <p:cNvSpPr txBox="1"/>
          <p:nvPr/>
        </p:nvSpPr>
        <p:spPr>
          <a:xfrm>
            <a:off x="868680" y="4041648"/>
            <a:ext cx="1737360" cy="329184"/>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/sweep · weekly</a:t>
            </a:r>
            <a:endParaRPr lang="en-US" sz="1300" dirty="0"/>
          </a:p>
        </p:txBody>
      </p:sp>
      <p:sp>
        <p:nvSpPr>
          <p:cNvPr id="10" name="num-73"/>
          <p:cNvSpPr/>
          <p:nvPr/>
        </p:nvSpPr>
        <p:spPr>
          <a:xfrm>
            <a:off x="5074920" y="1627632"/>
            <a:ext cx="347472" cy="347472"/>
          </a:xfrm>
          <a:prstGeom prst="ellipse">
            <a:avLst/>
          </a:prstGeom>
          <a:solidFill>
            <a:schemeClr val="accent1"/>
          </a:solidFill>
          <a:ln/>
        </p:spPr>
      </p:sp>
      <p:sp>
        <p:nvSpPr>
          <p:cNvPr id="11" name="text-74"/>
          <p:cNvSpPr txBox="1"/>
          <p:nvPr/>
        </p:nvSpPr>
        <p:spPr>
          <a:xfrm>
            <a:off x="5074920" y="162763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text-75"/>
          <p:cNvSpPr txBox="1"/>
          <p:nvPr/>
        </p:nvSpPr>
        <p:spPr>
          <a:xfrm>
            <a:off x="5577840" y="1600200"/>
            <a:ext cx="2651760" cy="868680"/>
          </a:xfrm>
          <a:prstGeom prst="rect">
            <a:avLst/>
          </a:prstGeom>
          <a:noFill/>
          <a:ln/>
        </p:spPr>
        <p:txBody>
          <a:bodyPr wrap="square" lIns="0" tIns="0" rIns="0" bIns="0" rtlCol="0" anchor="t"/>
          <a:lstStyle/>
          <a:p>
            <a:pPr indent="0" marL="0">
              <a:buNone/>
            </a:pPr>
            <a:r>
              <a:rPr lang="en-US" sz="1300" dirty="0">
                <a:solidFill>
                  <a:schemeClr val="bg1"/>
                </a:solidFill>
              </a:rPr>
              <a:t>Merges duplicate notes into one</a:t>
            </a:r>
            <a:endParaRPr lang="en-US" sz="1300" dirty="0"/>
          </a:p>
        </p:txBody>
      </p:sp>
      <p:sp>
        <p:nvSpPr>
          <p:cNvPr id="13" name="num-76"/>
          <p:cNvSpPr/>
          <p:nvPr/>
        </p:nvSpPr>
        <p:spPr>
          <a:xfrm>
            <a:off x="5074920" y="2569464"/>
            <a:ext cx="347472" cy="347472"/>
          </a:xfrm>
          <a:prstGeom prst="ellipse">
            <a:avLst/>
          </a:prstGeom>
          <a:solidFill>
            <a:schemeClr val="accent1"/>
          </a:solidFill>
          <a:ln/>
        </p:spPr>
      </p:sp>
      <p:sp>
        <p:nvSpPr>
          <p:cNvPr id="14" name="text-77"/>
          <p:cNvSpPr txBox="1"/>
          <p:nvPr/>
        </p:nvSpPr>
        <p:spPr>
          <a:xfrm>
            <a:off x="5074920" y="256946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78"/>
          <p:cNvSpPr txBox="1"/>
          <p:nvPr/>
        </p:nvSpPr>
        <p:spPr>
          <a:xfrm>
            <a:off x="5577840" y="2542032"/>
            <a:ext cx="2651760" cy="868680"/>
          </a:xfrm>
          <a:prstGeom prst="rect">
            <a:avLst/>
          </a:prstGeom>
          <a:noFill/>
          <a:ln/>
        </p:spPr>
        <p:txBody>
          <a:bodyPr wrap="square" lIns="0" tIns="0" rIns="0" bIns="0" rtlCol="0" anchor="t"/>
          <a:lstStyle/>
          <a:p>
            <a:pPr indent="0" marL="0">
              <a:buNone/>
            </a:pPr>
            <a:r>
              <a:rPr lang="en-US" sz="1300" dirty="0">
                <a:solidFill>
                  <a:schemeClr val="bg1"/>
                </a:solidFill>
              </a:rPr>
              <a:t>A newer decision contradicts an older one? The old one is marked replaced — kept as history, never deleted</a:t>
            </a:r>
            <a:endParaRPr lang="en-US" sz="1300" dirty="0"/>
          </a:p>
        </p:txBody>
      </p:sp>
      <p:sp>
        <p:nvSpPr>
          <p:cNvPr id="16" name="num-79"/>
          <p:cNvSpPr/>
          <p:nvPr/>
        </p:nvSpPr>
        <p:spPr>
          <a:xfrm>
            <a:off x="5074920" y="3511296"/>
            <a:ext cx="347472" cy="347472"/>
          </a:xfrm>
          <a:prstGeom prst="ellipse">
            <a:avLst/>
          </a:prstGeom>
          <a:solidFill>
            <a:schemeClr val="accent1"/>
          </a:solidFill>
          <a:ln/>
        </p:spPr>
      </p:sp>
      <p:sp>
        <p:nvSpPr>
          <p:cNvPr id="17" name="text-80"/>
          <p:cNvSpPr txBox="1"/>
          <p:nvPr/>
        </p:nvSpPr>
        <p:spPr>
          <a:xfrm>
            <a:off x="5074920" y="3511296"/>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81"/>
          <p:cNvSpPr txBox="1"/>
          <p:nvPr/>
        </p:nvSpPr>
        <p:spPr>
          <a:xfrm>
            <a:off x="5577840" y="3483864"/>
            <a:ext cx="2651760" cy="868680"/>
          </a:xfrm>
          <a:prstGeom prst="rect">
            <a:avLst/>
          </a:prstGeom>
          <a:noFill/>
          <a:ln/>
        </p:spPr>
        <p:txBody>
          <a:bodyPr wrap="square" lIns="0" tIns="0" rIns="0" bIns="0" rtlCol="0" anchor="t"/>
          <a:lstStyle/>
          <a:p>
            <a:pPr indent="0" marL="0">
              <a:buNone/>
            </a:pPr>
            <a:r>
              <a:rPr lang="en-US" sz="1300" dirty="0">
                <a:solidFill>
                  <a:schemeClr val="bg1"/>
                </a:solidFill>
              </a:rPr>
              <a:t>Flags stale notes nobody has touched in a long time</a:t>
            </a:r>
            <a:endParaRPr lang="en-US" sz="1300" dirty="0"/>
          </a:p>
        </p:txBody>
      </p:sp>
      <p:sp>
        <p:nvSpPr>
          <p:cNvPr id="19" name="num-82"/>
          <p:cNvSpPr/>
          <p:nvPr/>
        </p:nvSpPr>
        <p:spPr>
          <a:xfrm>
            <a:off x="8366760" y="1627632"/>
            <a:ext cx="347472" cy="347472"/>
          </a:xfrm>
          <a:prstGeom prst="ellipse">
            <a:avLst/>
          </a:prstGeom>
          <a:solidFill>
            <a:schemeClr val="accent1"/>
          </a:solidFill>
          <a:ln/>
        </p:spPr>
      </p:sp>
      <p:sp>
        <p:nvSpPr>
          <p:cNvPr id="20" name="text-83"/>
          <p:cNvSpPr txBox="1"/>
          <p:nvPr/>
        </p:nvSpPr>
        <p:spPr>
          <a:xfrm>
            <a:off x="8366760" y="162763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84"/>
          <p:cNvSpPr txBox="1"/>
          <p:nvPr/>
        </p:nvSpPr>
        <p:spPr>
          <a:xfrm>
            <a:off x="8869680" y="1600200"/>
            <a:ext cx="2651760" cy="868680"/>
          </a:xfrm>
          <a:prstGeom prst="rect">
            <a:avLst/>
          </a:prstGeom>
          <a:noFill/>
          <a:ln/>
        </p:spPr>
        <p:txBody>
          <a:bodyPr wrap="square" lIns="0" tIns="0" rIns="0" bIns="0" rtlCol="0" anchor="t"/>
          <a:lstStyle/>
          <a:p>
            <a:pPr indent="0" marL="0">
              <a:buNone/>
            </a:pPr>
            <a:r>
              <a:rPr lang="en-US" sz="1300" dirty="0">
                <a:solidFill>
                  <a:schemeClr val="bg1"/>
                </a:solidFill>
              </a:rPr>
              <a:t>Promotes things heard in 3+ meetings into the product pages</a:t>
            </a:r>
            <a:endParaRPr lang="en-US" sz="1300" dirty="0"/>
          </a:p>
        </p:txBody>
      </p:sp>
      <p:sp>
        <p:nvSpPr>
          <p:cNvPr id="22" name="num-85"/>
          <p:cNvSpPr/>
          <p:nvPr/>
        </p:nvSpPr>
        <p:spPr>
          <a:xfrm>
            <a:off x="8366760" y="2569464"/>
            <a:ext cx="347472" cy="347472"/>
          </a:xfrm>
          <a:prstGeom prst="ellipse">
            <a:avLst/>
          </a:prstGeom>
          <a:solidFill>
            <a:schemeClr val="accent1"/>
          </a:solidFill>
          <a:ln/>
        </p:spPr>
      </p:sp>
      <p:sp>
        <p:nvSpPr>
          <p:cNvPr id="23" name="text-86"/>
          <p:cNvSpPr txBox="1"/>
          <p:nvPr/>
        </p:nvSpPr>
        <p:spPr>
          <a:xfrm>
            <a:off x="8366760" y="256946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4" name="text-87"/>
          <p:cNvSpPr txBox="1"/>
          <p:nvPr/>
        </p:nvSpPr>
        <p:spPr>
          <a:xfrm>
            <a:off x="8869680" y="2542032"/>
            <a:ext cx="2651760" cy="868680"/>
          </a:xfrm>
          <a:prstGeom prst="rect">
            <a:avLst/>
          </a:prstGeom>
          <a:noFill/>
          <a:ln/>
        </p:spPr>
        <p:txBody>
          <a:bodyPr wrap="square" lIns="0" tIns="0" rIns="0" bIns="0" rtlCol="0" anchor="t"/>
          <a:lstStyle/>
          <a:p>
            <a:pPr indent="0" marL="0">
              <a:buNone/>
            </a:pPr>
            <a:r>
              <a:rPr lang="en-US" sz="1300" dirty="0">
                <a:solidFill>
                  <a:schemeClr val="bg1"/>
                </a:solidFill>
              </a:rPr>
              <a:t>Rebuilds the topic pages</a:t>
            </a:r>
            <a:endParaRPr lang="en-US" sz="1300" dirty="0"/>
          </a:p>
        </p:txBody>
      </p:sp>
      <p:sp>
        <p:nvSpPr>
          <p:cNvPr id="25" name="num-88"/>
          <p:cNvSpPr/>
          <p:nvPr/>
        </p:nvSpPr>
        <p:spPr>
          <a:xfrm>
            <a:off x="8366760" y="3511296"/>
            <a:ext cx="347472" cy="347472"/>
          </a:xfrm>
          <a:prstGeom prst="ellipse">
            <a:avLst/>
          </a:prstGeom>
          <a:solidFill>
            <a:schemeClr val="accent6"/>
          </a:solidFill>
          <a:ln/>
        </p:spPr>
      </p:sp>
      <p:sp>
        <p:nvSpPr>
          <p:cNvPr id="26" name="text-89"/>
          <p:cNvSpPr txBox="1"/>
          <p:nvPr/>
        </p:nvSpPr>
        <p:spPr>
          <a:xfrm>
            <a:off x="8366760" y="3511296"/>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7" name="text-90"/>
          <p:cNvSpPr txBox="1"/>
          <p:nvPr/>
        </p:nvSpPr>
        <p:spPr>
          <a:xfrm>
            <a:off x="8869680" y="3483864"/>
            <a:ext cx="2651760" cy="868680"/>
          </a:xfrm>
          <a:prstGeom prst="rect">
            <a:avLst/>
          </a:prstGeom>
          <a:noFill/>
          <a:ln/>
        </p:spPr>
        <p:txBody>
          <a:bodyPr wrap="square" lIns="0" tIns="0" rIns="0" bIns="0" rtlCol="0" anchor="t"/>
          <a:lstStyle/>
          <a:p>
            <a:pPr indent="0" marL="0">
              <a:buNone/>
            </a:pPr>
            <a:r>
              <a:rPr lang="en-US" sz="1300" dirty="0">
                <a:solidFill>
                  <a:schemeClr val="bg1"/>
                </a:solidFill>
              </a:rPr>
              <a:t>You approve every change before it is saved</a:t>
            </a:r>
            <a:endParaRPr lang="en-US" sz="1300" dirty="0"/>
          </a:p>
        </p:txBody>
      </p:sp>
      <p:sp>
        <p:nvSpPr>
          <p:cNvPr id="28" name="card-91"/>
          <p:cNvSpPr/>
          <p:nvPr/>
        </p:nvSpPr>
        <p:spPr>
          <a:xfrm>
            <a:off x="548640" y="4754880"/>
            <a:ext cx="3566160" cy="1417320"/>
          </a:xfrm>
          <a:prstGeom prst="roundRect">
            <a:avLst>
              <a:gd name="adj" fmla="val 7742"/>
            </a:avLst>
          </a:prstGeom>
          <a:solidFill>
            <a:schemeClr val="bg2"/>
          </a:solidFill>
          <a:ln/>
        </p:spPr>
      </p:sp>
      <p:sp>
        <p:nvSpPr>
          <p:cNvPr id="29" name="iconbg-92"/>
          <p:cNvSpPr/>
          <p:nvPr/>
        </p:nvSpPr>
        <p:spPr>
          <a:xfrm>
            <a:off x="777240" y="4956048"/>
            <a:ext cx="457200" cy="457200"/>
          </a:xfrm>
          <a:prstGeom prst="ellipse">
            <a:avLst/>
          </a:prstGeom>
          <a:solidFill>
            <a:schemeClr val="tx1"/>
          </a:solidFill>
          <a:ln/>
        </p:spPr>
      </p:sp>
      <p:pic>
        <p:nvPicPr>
          <p:cNvPr id="30" name="icon-93" descr="preencoded.png">    </p:cNvPr>
          <p:cNvPicPr>
            <a:picLocks noChangeAspect="1"/>
          </p:cNvPicPr>
          <p:nvPr/>
        </p:nvPicPr>
        <p:blipFill>
          <a:blip r:embed="rId2"/>
          <a:stretch>
            <a:fillRect/>
          </a:stretch>
        </p:blipFill>
        <p:spPr>
          <a:xfrm>
            <a:off x="877824" y="5056632"/>
            <a:ext cx="256032" cy="256032"/>
          </a:xfrm>
          <a:prstGeom prst="rect">
            <a:avLst/>
          </a:prstGeom>
        </p:spPr>
      </p:pic>
      <p:sp>
        <p:nvSpPr>
          <p:cNvPr id="31" name="text-94"/>
          <p:cNvSpPr txBox="1"/>
          <p:nvPr/>
        </p:nvSpPr>
        <p:spPr>
          <a:xfrm>
            <a:off x="1371600" y="4956048"/>
            <a:ext cx="2560320" cy="457200"/>
          </a:xfrm>
          <a:prstGeom prst="rect">
            <a:avLst/>
          </a:prstGeom>
          <a:noFill/>
          <a:ln/>
        </p:spPr>
        <p:txBody>
          <a:bodyPr wrap="square" lIns="0" tIns="0" rIns="0" bIns="0" rtlCol="0" anchor="ctr"/>
          <a:lstStyle/>
          <a:p>
            <a:pPr indent="0" marL="0">
              <a:buNone/>
            </a:pPr>
            <a:r>
              <a:rPr lang="en-US" sz="1700" b="1" dirty="0">
                <a:solidFill>
                  <a:schemeClr val="tx1"/>
                </a:solidFill>
              </a:rPr>
              <a:t>Versioning</a:t>
            </a:r>
            <a:endParaRPr lang="en-US" sz="1700" dirty="0"/>
          </a:p>
        </p:txBody>
      </p:sp>
      <p:sp>
        <p:nvSpPr>
          <p:cNvPr id="32" name="text-95"/>
          <p:cNvSpPr txBox="1"/>
          <p:nvPr/>
        </p:nvSpPr>
        <p:spPr>
          <a:xfrm>
            <a:off x="777240" y="5486400"/>
            <a:ext cx="3154680" cy="640080"/>
          </a:xfrm>
          <a:prstGeom prst="rect">
            <a:avLst/>
          </a:prstGeom>
          <a:noFill/>
          <a:ln/>
        </p:spPr>
        <p:txBody>
          <a:bodyPr wrap="square" lIns="0" tIns="0" rIns="0" bIns="0" rtlCol="0" anchor="t"/>
          <a:lstStyle/>
          <a:p>
            <a:pPr indent="0" marL="0">
              <a:buNone/>
            </a:pPr>
            <a:r>
              <a:rPr lang="en-US" sz="1300" dirty="0">
                <a:solidFill>
                  <a:schemeClr val="tx2"/>
                </a:solidFill>
              </a:rPr>
              <a:t>Every change is saved in history. Undo anything, or ask “what did we believe in August?”</a:t>
            </a:r>
            <a:endParaRPr lang="en-US" sz="1300" dirty="0"/>
          </a:p>
        </p:txBody>
      </p:sp>
      <p:sp>
        <p:nvSpPr>
          <p:cNvPr id="33" name="card-96"/>
          <p:cNvSpPr/>
          <p:nvPr/>
        </p:nvSpPr>
        <p:spPr>
          <a:xfrm>
            <a:off x="4297680" y="4754880"/>
            <a:ext cx="3566160" cy="1417320"/>
          </a:xfrm>
          <a:prstGeom prst="roundRect">
            <a:avLst>
              <a:gd name="adj" fmla="val 7742"/>
            </a:avLst>
          </a:prstGeom>
          <a:solidFill>
            <a:schemeClr val="bg2"/>
          </a:solidFill>
          <a:ln/>
        </p:spPr>
      </p:sp>
      <p:sp>
        <p:nvSpPr>
          <p:cNvPr id="34" name="iconbg-97"/>
          <p:cNvSpPr/>
          <p:nvPr/>
        </p:nvSpPr>
        <p:spPr>
          <a:xfrm>
            <a:off x="4526280" y="4956048"/>
            <a:ext cx="457200" cy="457200"/>
          </a:xfrm>
          <a:prstGeom prst="ellipse">
            <a:avLst/>
          </a:prstGeom>
          <a:solidFill>
            <a:schemeClr val="tx1"/>
          </a:solidFill>
          <a:ln/>
        </p:spPr>
      </p:sp>
      <p:pic>
        <p:nvPicPr>
          <p:cNvPr id="35" name="icon-98" descr="preencoded.png">    </p:cNvPr>
          <p:cNvPicPr>
            <a:picLocks noChangeAspect="1"/>
          </p:cNvPicPr>
          <p:nvPr/>
        </p:nvPicPr>
        <p:blipFill>
          <a:blip r:embed="rId3"/>
          <a:stretch>
            <a:fillRect/>
          </a:stretch>
        </p:blipFill>
        <p:spPr>
          <a:xfrm>
            <a:off x="4626864" y="5056632"/>
            <a:ext cx="256032" cy="256032"/>
          </a:xfrm>
          <a:prstGeom prst="rect">
            <a:avLst/>
          </a:prstGeom>
        </p:spPr>
      </p:pic>
      <p:sp>
        <p:nvSpPr>
          <p:cNvPr id="36" name="text-99"/>
          <p:cNvSpPr txBox="1"/>
          <p:nvPr/>
        </p:nvSpPr>
        <p:spPr>
          <a:xfrm>
            <a:off x="5120640" y="4956048"/>
            <a:ext cx="2560320" cy="457200"/>
          </a:xfrm>
          <a:prstGeom prst="rect">
            <a:avLst/>
          </a:prstGeom>
          <a:noFill/>
          <a:ln/>
        </p:spPr>
        <p:txBody>
          <a:bodyPr wrap="square" lIns="0" tIns="0" rIns="0" bIns="0" rtlCol="0" anchor="ctr"/>
          <a:lstStyle/>
          <a:p>
            <a:pPr indent="0" marL="0">
              <a:buNone/>
            </a:pPr>
            <a:r>
              <a:rPr lang="en-US" sz="1700" b="1" dirty="0">
                <a:solidFill>
                  <a:schemeClr val="tx1"/>
                </a:solidFill>
              </a:rPr>
              <a:t>Topic pages</a:t>
            </a:r>
            <a:endParaRPr lang="en-US" sz="1700" dirty="0"/>
          </a:p>
        </p:txBody>
      </p:sp>
      <p:sp>
        <p:nvSpPr>
          <p:cNvPr id="37" name="text-100"/>
          <p:cNvSpPr txBox="1"/>
          <p:nvPr/>
        </p:nvSpPr>
        <p:spPr>
          <a:xfrm>
            <a:off x="4526280" y="5486400"/>
            <a:ext cx="3154680" cy="640080"/>
          </a:xfrm>
          <a:prstGeom prst="rect">
            <a:avLst/>
          </a:prstGeom>
          <a:noFill/>
          <a:ln/>
        </p:spPr>
        <p:txBody>
          <a:bodyPr wrap="square" lIns="0" tIns="0" rIns="0" bIns="0" rtlCol="0" anchor="t"/>
          <a:lstStyle/>
          <a:p>
            <a:pPr indent="0" marL="0">
              <a:buNone/>
            </a:pPr>
            <a:r>
              <a:rPr lang="en-US" sz="1300" dirty="0">
                <a:solidFill>
                  <a:schemeClr val="tx2"/>
                </a:solidFill>
              </a:rPr>
              <a:t>One page per theme, pulling together notes from many meetings.</a:t>
            </a:r>
            <a:endParaRPr lang="en-US" sz="1300" dirty="0"/>
          </a:p>
        </p:txBody>
      </p:sp>
      <p:sp>
        <p:nvSpPr>
          <p:cNvPr id="38" name="card-101"/>
          <p:cNvSpPr/>
          <p:nvPr/>
        </p:nvSpPr>
        <p:spPr>
          <a:xfrm>
            <a:off x="8046720" y="4754880"/>
            <a:ext cx="3566160" cy="1417320"/>
          </a:xfrm>
          <a:prstGeom prst="roundRect">
            <a:avLst>
              <a:gd name="adj" fmla="val 7742"/>
            </a:avLst>
          </a:prstGeom>
          <a:solidFill>
            <a:schemeClr val="bg2"/>
          </a:solidFill>
          <a:ln/>
        </p:spPr>
      </p:sp>
      <p:sp>
        <p:nvSpPr>
          <p:cNvPr id="39" name="iconbg-102"/>
          <p:cNvSpPr/>
          <p:nvPr/>
        </p:nvSpPr>
        <p:spPr>
          <a:xfrm>
            <a:off x="8275320" y="4956048"/>
            <a:ext cx="457200" cy="457200"/>
          </a:xfrm>
          <a:prstGeom prst="ellipse">
            <a:avLst/>
          </a:prstGeom>
          <a:solidFill>
            <a:schemeClr val="tx1"/>
          </a:solidFill>
          <a:ln/>
        </p:spPr>
      </p:sp>
      <p:pic>
        <p:nvPicPr>
          <p:cNvPr id="40" name="icon-103" descr="preencoded.png">    </p:cNvPr>
          <p:cNvPicPr>
            <a:picLocks noChangeAspect="1"/>
          </p:cNvPicPr>
          <p:nvPr/>
        </p:nvPicPr>
        <p:blipFill>
          <a:blip r:embed="rId4"/>
          <a:stretch>
            <a:fillRect/>
          </a:stretch>
        </p:blipFill>
        <p:spPr>
          <a:xfrm>
            <a:off x="8375904" y="5056632"/>
            <a:ext cx="256032" cy="256032"/>
          </a:xfrm>
          <a:prstGeom prst="rect">
            <a:avLst/>
          </a:prstGeom>
        </p:spPr>
      </p:pic>
      <p:sp>
        <p:nvSpPr>
          <p:cNvPr id="41" name="text-104"/>
          <p:cNvSpPr txBox="1"/>
          <p:nvPr/>
        </p:nvSpPr>
        <p:spPr>
          <a:xfrm>
            <a:off x="8869680" y="4956048"/>
            <a:ext cx="2560320" cy="457200"/>
          </a:xfrm>
          <a:prstGeom prst="rect">
            <a:avLst/>
          </a:prstGeom>
          <a:noFill/>
          <a:ln/>
        </p:spPr>
        <p:txBody>
          <a:bodyPr wrap="square" lIns="0" tIns="0" rIns="0" bIns="0" rtlCol="0" anchor="ctr"/>
          <a:lstStyle/>
          <a:p>
            <a:pPr indent="0" marL="0">
              <a:buNone/>
            </a:pPr>
            <a:r>
              <a:rPr lang="en-US" sz="1700" b="1" dirty="0">
                <a:solidFill>
                  <a:schemeClr val="tx1"/>
                </a:solidFill>
              </a:rPr>
              <a:t>Metadata search</a:t>
            </a:r>
            <a:endParaRPr lang="en-US" sz="1700" dirty="0"/>
          </a:p>
        </p:txBody>
      </p:sp>
      <p:sp>
        <p:nvSpPr>
          <p:cNvPr id="42" name="text-105"/>
          <p:cNvSpPr txBox="1"/>
          <p:nvPr/>
        </p:nvSpPr>
        <p:spPr>
          <a:xfrm>
            <a:off x="8275320" y="5486400"/>
            <a:ext cx="3154680" cy="640080"/>
          </a:xfrm>
          <a:prstGeom prst="rect">
            <a:avLst/>
          </a:prstGeom>
          <a:noFill/>
          <a:ln/>
        </p:spPr>
        <p:txBody>
          <a:bodyPr wrap="square" lIns="0" tIns="0" rIns="0" bIns="0" rtlCol="0" anchor="t"/>
          <a:lstStyle/>
          <a:p>
            <a:pPr indent="0" marL="0">
              <a:buNone/>
            </a:pPr>
            <a:r>
              <a:rPr lang="en-US" sz="1300" dirty="0">
                <a:solidFill>
                  <a:schemeClr val="tx2"/>
                </a:solidFill>
              </a:rPr>
              <a:t>Find notes by topic, person, date or status — no complex infrastructure.</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1"/>
                </a:solidFill>
              </a:rPr>
              <a:t>Skills run on top of what the brain knows</a:t>
            </a:r>
            <a:endParaRPr lang="en-US" sz="3600" dirty="0"/>
          </a:p>
        </p:txBody>
      </p:sp>
      <p:sp>
        <p:nvSpPr>
          <p:cNvPr id="3" name="card-106"/>
          <p:cNvSpPr/>
          <p:nvPr/>
        </p:nvSpPr>
        <p:spPr>
          <a:xfrm>
            <a:off x="548640" y="1371600"/>
            <a:ext cx="3200400" cy="1783080"/>
          </a:xfrm>
          <a:prstGeom prst="roundRect">
            <a:avLst>
              <a:gd name="adj" fmla="val 6154"/>
            </a:avLst>
          </a:prstGeom>
          <a:solidFill>
            <a:schemeClr val="bg2"/>
          </a:solidFill>
          <a:ln/>
        </p:spPr>
      </p:sp>
      <p:sp>
        <p:nvSpPr>
          <p:cNvPr id="4" name="iconbg-107"/>
          <p:cNvSpPr/>
          <p:nvPr/>
        </p:nvSpPr>
        <p:spPr>
          <a:xfrm>
            <a:off x="777240" y="1572768"/>
            <a:ext cx="502920" cy="502920"/>
          </a:xfrm>
          <a:prstGeom prst="ellipse">
            <a:avLst/>
          </a:prstGeom>
          <a:solidFill>
            <a:schemeClr val="tx1"/>
          </a:solidFill>
          <a:ln/>
        </p:spPr>
      </p:sp>
      <p:pic>
        <p:nvPicPr>
          <p:cNvPr id="5" name="icon-108" descr="preencoded.png">    </p:cNvPr>
          <p:cNvPicPr>
            <a:picLocks noChangeAspect="1"/>
          </p:cNvPicPr>
          <p:nvPr/>
        </p:nvPicPr>
        <p:blipFill>
          <a:blip r:embed="rId1"/>
          <a:stretch>
            <a:fillRect/>
          </a:stretch>
        </p:blipFill>
        <p:spPr>
          <a:xfrm>
            <a:off x="887882" y="1683410"/>
            <a:ext cx="281635" cy="281635"/>
          </a:xfrm>
          <a:prstGeom prst="rect">
            <a:avLst/>
          </a:prstGeom>
        </p:spPr>
      </p:pic>
      <p:sp>
        <p:nvSpPr>
          <p:cNvPr id="6" name="text-109"/>
          <p:cNvSpPr txBox="1"/>
          <p:nvPr/>
        </p:nvSpPr>
        <p:spPr>
          <a:xfrm>
            <a:off x="1417320" y="1572768"/>
            <a:ext cx="2194560" cy="502920"/>
          </a:xfrm>
          <a:prstGeom prst="rect">
            <a:avLst/>
          </a:prstGeom>
          <a:noFill/>
          <a:ln/>
        </p:spPr>
        <p:txBody>
          <a:bodyPr wrap="square" lIns="0" tIns="0" rIns="0" bIns="0" rtlCol="0" anchor="ctr"/>
          <a:lstStyle/>
          <a:p>
            <a:pPr indent="0" marL="0">
              <a:buNone/>
            </a:pPr>
            <a:r>
              <a:rPr lang="en-US" sz="1200" b="1" spc="100" kern="0" dirty="0">
                <a:solidFill>
                  <a:schemeClr val="accent1"/>
                </a:solidFill>
              </a:rPr>
              <a:t>SKILL = THE HOW</a:t>
            </a:r>
            <a:endParaRPr lang="en-US" sz="1200" dirty="0"/>
          </a:p>
        </p:txBody>
      </p:sp>
      <p:sp>
        <p:nvSpPr>
          <p:cNvPr id="7" name="text-110"/>
          <p:cNvSpPr txBox="1"/>
          <p:nvPr/>
        </p:nvSpPr>
        <p:spPr>
          <a:xfrm>
            <a:off x="777240" y="2194560"/>
            <a:ext cx="2788920" cy="365760"/>
          </a:xfrm>
          <a:prstGeom prst="rect">
            <a:avLst/>
          </a:prstGeom>
          <a:noFill/>
          <a:ln/>
        </p:spPr>
        <p:txBody>
          <a:bodyPr wrap="square" lIns="0" tIns="0" rIns="0" bIns="0" rtlCol="0" anchor="t"/>
          <a:lstStyle/>
          <a:p>
            <a:pPr indent="0" marL="0">
              <a:buNone/>
            </a:pPr>
            <a:r>
              <a:rPr lang="en-US" sz="1800" b="1" dirty="0">
                <a:solidFill>
                  <a:schemeClr val="tx1"/>
                </a:solidFill>
              </a:rPr>
              <a:t>A reusable procedure</a:t>
            </a:r>
            <a:endParaRPr lang="en-US" sz="1800" dirty="0"/>
          </a:p>
        </p:txBody>
      </p:sp>
      <p:sp>
        <p:nvSpPr>
          <p:cNvPr id="8" name="text-111"/>
          <p:cNvSpPr txBox="1"/>
          <p:nvPr/>
        </p:nvSpPr>
        <p:spPr>
          <a:xfrm>
            <a:off x="777240" y="2560320"/>
            <a:ext cx="2788920" cy="502920"/>
          </a:xfrm>
          <a:prstGeom prst="rect">
            <a:avLst/>
          </a:prstGeom>
          <a:noFill/>
          <a:ln/>
        </p:spPr>
        <p:txBody>
          <a:bodyPr wrap="square" lIns="0" tIns="0" rIns="0" bIns="0" rtlCol="0" anchor="t"/>
          <a:lstStyle/>
          <a:p>
            <a:pPr indent="0" marL="0">
              <a:buNone/>
            </a:pPr>
            <a:r>
              <a:rPr lang="en-US" sz="1400" dirty="0">
                <a:solidFill>
                  <a:schemeClr val="tx2"/>
                </a:solidFill>
              </a:rPr>
              <a:t>e.g. how to write good release notes</a:t>
            </a:r>
            <a:endParaRPr lang="en-US" sz="1400" dirty="0"/>
          </a:p>
        </p:txBody>
      </p:sp>
      <p:sp>
        <p:nvSpPr>
          <p:cNvPr id="9" name="card-112"/>
          <p:cNvSpPr/>
          <p:nvPr/>
        </p:nvSpPr>
        <p:spPr>
          <a:xfrm>
            <a:off x="4343400" y="1371600"/>
            <a:ext cx="3200400" cy="1783080"/>
          </a:xfrm>
          <a:prstGeom prst="roundRect">
            <a:avLst>
              <a:gd name="adj" fmla="val 6154"/>
            </a:avLst>
          </a:prstGeom>
          <a:solidFill>
            <a:schemeClr val="bg2"/>
          </a:solidFill>
          <a:ln/>
        </p:spPr>
      </p:sp>
      <p:sp>
        <p:nvSpPr>
          <p:cNvPr id="10" name="iconbg-113"/>
          <p:cNvSpPr/>
          <p:nvPr/>
        </p:nvSpPr>
        <p:spPr>
          <a:xfrm>
            <a:off x="4572000" y="1572768"/>
            <a:ext cx="502920" cy="502920"/>
          </a:xfrm>
          <a:prstGeom prst="ellipse">
            <a:avLst/>
          </a:prstGeom>
          <a:solidFill>
            <a:schemeClr val="tx1"/>
          </a:solidFill>
          <a:ln/>
        </p:spPr>
      </p:sp>
      <p:pic>
        <p:nvPicPr>
          <p:cNvPr id="11" name="icon-114" descr="preencoded.png">    </p:cNvPr>
          <p:cNvPicPr>
            <a:picLocks noChangeAspect="1"/>
          </p:cNvPicPr>
          <p:nvPr/>
        </p:nvPicPr>
        <p:blipFill>
          <a:blip r:embed="rId2"/>
          <a:stretch>
            <a:fillRect/>
          </a:stretch>
        </p:blipFill>
        <p:spPr>
          <a:xfrm>
            <a:off x="4682642" y="1683410"/>
            <a:ext cx="281635" cy="281635"/>
          </a:xfrm>
          <a:prstGeom prst="rect">
            <a:avLst/>
          </a:prstGeom>
        </p:spPr>
      </p:pic>
      <p:sp>
        <p:nvSpPr>
          <p:cNvPr id="12" name="text-115"/>
          <p:cNvSpPr txBox="1"/>
          <p:nvPr/>
        </p:nvSpPr>
        <p:spPr>
          <a:xfrm>
            <a:off x="5212080" y="1572768"/>
            <a:ext cx="2194560" cy="502920"/>
          </a:xfrm>
          <a:prstGeom prst="rect">
            <a:avLst/>
          </a:prstGeom>
          <a:noFill/>
          <a:ln/>
        </p:spPr>
        <p:txBody>
          <a:bodyPr wrap="square" lIns="0" tIns="0" rIns="0" bIns="0" rtlCol="0" anchor="ctr"/>
          <a:lstStyle/>
          <a:p>
            <a:pPr indent="0" marL="0">
              <a:buNone/>
            </a:pPr>
            <a:r>
              <a:rPr lang="en-US" sz="1200" b="1" spc="100" kern="0" dirty="0">
                <a:solidFill>
                  <a:schemeClr val="accent1"/>
                </a:solidFill>
              </a:rPr>
              <a:t>BRAIN = THE WHAT</a:t>
            </a:r>
            <a:endParaRPr lang="en-US" sz="1200" dirty="0"/>
          </a:p>
        </p:txBody>
      </p:sp>
      <p:sp>
        <p:nvSpPr>
          <p:cNvPr id="13" name="text-116"/>
          <p:cNvSpPr txBox="1"/>
          <p:nvPr/>
        </p:nvSpPr>
        <p:spPr>
          <a:xfrm>
            <a:off x="4572000" y="2194560"/>
            <a:ext cx="2788920" cy="365760"/>
          </a:xfrm>
          <a:prstGeom prst="rect">
            <a:avLst/>
          </a:prstGeom>
          <a:noFill/>
          <a:ln/>
        </p:spPr>
        <p:txBody>
          <a:bodyPr wrap="square" lIns="0" tIns="0" rIns="0" bIns="0" rtlCol="0" anchor="t"/>
          <a:lstStyle/>
          <a:p>
            <a:pPr indent="0" marL="0">
              <a:buNone/>
            </a:pPr>
            <a:r>
              <a:rPr lang="en-US" sz="1800" b="1" dirty="0">
                <a:solidFill>
                  <a:schemeClr val="tx1"/>
                </a:solidFill>
              </a:rPr>
              <a:t>Your knowledge</a:t>
            </a:r>
            <a:endParaRPr lang="en-US" sz="1800" dirty="0"/>
          </a:p>
        </p:txBody>
      </p:sp>
      <p:sp>
        <p:nvSpPr>
          <p:cNvPr id="14" name="text-117"/>
          <p:cNvSpPr txBox="1"/>
          <p:nvPr/>
        </p:nvSpPr>
        <p:spPr>
          <a:xfrm>
            <a:off x="4572000" y="2560320"/>
            <a:ext cx="2788920" cy="502920"/>
          </a:xfrm>
          <a:prstGeom prst="rect">
            <a:avLst/>
          </a:prstGeom>
          <a:noFill/>
          <a:ln/>
        </p:spPr>
        <p:txBody>
          <a:bodyPr wrap="square" lIns="0" tIns="0" rIns="0" bIns="0" rtlCol="0" anchor="t"/>
          <a:lstStyle/>
          <a:p>
            <a:pPr indent="0" marL="0">
              <a:buNone/>
            </a:pPr>
            <a:r>
              <a:rPr lang="en-US" sz="1400" dirty="0">
                <a:solidFill>
                  <a:schemeClr val="tx2"/>
                </a:solidFill>
              </a:rPr>
              <a:t>your product, decisions, persona and templates</a:t>
            </a:r>
            <a:endParaRPr lang="en-US" sz="1400" dirty="0"/>
          </a:p>
        </p:txBody>
      </p:sp>
      <p:sp>
        <p:nvSpPr>
          <p:cNvPr id="15" name="card-118"/>
          <p:cNvSpPr/>
          <p:nvPr/>
        </p:nvSpPr>
        <p:spPr>
          <a:xfrm>
            <a:off x="8138160" y="1371600"/>
            <a:ext cx="3474720" cy="1783080"/>
          </a:xfrm>
          <a:prstGeom prst="roundRect">
            <a:avLst>
              <a:gd name="adj" fmla="val 6154"/>
            </a:avLst>
          </a:prstGeom>
          <a:solidFill>
            <a:schemeClr val="accent3"/>
          </a:solidFill>
          <a:ln/>
        </p:spPr>
      </p:sp>
      <p:sp>
        <p:nvSpPr>
          <p:cNvPr id="16" name="iconbg-119"/>
          <p:cNvSpPr/>
          <p:nvPr/>
        </p:nvSpPr>
        <p:spPr>
          <a:xfrm>
            <a:off x="8366760" y="1572768"/>
            <a:ext cx="502920" cy="502920"/>
          </a:xfrm>
          <a:prstGeom prst="ellipse">
            <a:avLst/>
          </a:prstGeom>
          <a:solidFill>
            <a:schemeClr val="accent1"/>
          </a:solidFill>
          <a:ln/>
        </p:spPr>
      </p:sp>
      <p:pic>
        <p:nvPicPr>
          <p:cNvPr id="17" name="icon-120" descr="preencoded.png">    </p:cNvPr>
          <p:cNvPicPr>
            <a:picLocks noChangeAspect="1"/>
          </p:cNvPicPr>
          <p:nvPr/>
        </p:nvPicPr>
        <p:blipFill>
          <a:blip r:embed="rId3"/>
          <a:stretch>
            <a:fillRect/>
          </a:stretch>
        </p:blipFill>
        <p:spPr>
          <a:xfrm>
            <a:off x="8477402" y="1683410"/>
            <a:ext cx="281635" cy="281635"/>
          </a:xfrm>
          <a:prstGeom prst="rect">
            <a:avLst/>
          </a:prstGeom>
        </p:spPr>
      </p:pic>
      <p:sp>
        <p:nvSpPr>
          <p:cNvPr id="18" name="text-121"/>
          <p:cNvSpPr txBox="1"/>
          <p:nvPr/>
        </p:nvSpPr>
        <p:spPr>
          <a:xfrm>
            <a:off x="9006840" y="1572768"/>
            <a:ext cx="2468880" cy="502920"/>
          </a:xfrm>
          <a:prstGeom prst="rect">
            <a:avLst/>
          </a:prstGeom>
          <a:noFill/>
          <a:ln/>
        </p:spPr>
        <p:txBody>
          <a:bodyPr wrap="square" lIns="0" tIns="0" rIns="0" bIns="0" rtlCol="0" anchor="ctr"/>
          <a:lstStyle/>
          <a:p>
            <a:pPr indent="0" marL="0">
              <a:buNone/>
            </a:pPr>
            <a:r>
              <a:rPr lang="en-US" sz="1200" b="1" spc="100" kern="0" dirty="0">
                <a:solidFill>
                  <a:schemeClr val="accent1"/>
                </a:solidFill>
              </a:rPr>
              <a:t>RESULT</a:t>
            </a:r>
            <a:endParaRPr lang="en-US" sz="1200" dirty="0"/>
          </a:p>
        </p:txBody>
      </p:sp>
      <p:sp>
        <p:nvSpPr>
          <p:cNvPr id="19" name="text-122"/>
          <p:cNvSpPr txBox="1"/>
          <p:nvPr/>
        </p:nvSpPr>
        <p:spPr>
          <a:xfrm>
            <a:off x="8366760" y="2194560"/>
            <a:ext cx="3063240" cy="365760"/>
          </a:xfrm>
          <a:prstGeom prst="rect">
            <a:avLst/>
          </a:prstGeom>
          <a:noFill/>
          <a:ln/>
        </p:spPr>
        <p:txBody>
          <a:bodyPr wrap="square" lIns="0" tIns="0" rIns="0" bIns="0" rtlCol="0" anchor="t"/>
          <a:lstStyle/>
          <a:p>
            <a:pPr indent="0" marL="0">
              <a:buNone/>
            </a:pPr>
            <a:r>
              <a:rPr lang="en-US" sz="1800" b="1" dirty="0">
                <a:solidFill>
                  <a:schemeClr val="tx1"/>
                </a:solidFill>
              </a:rPr>
              <a:t>Output that fits</a:t>
            </a:r>
            <a:endParaRPr lang="en-US" sz="1800" dirty="0"/>
          </a:p>
        </p:txBody>
      </p:sp>
      <p:sp>
        <p:nvSpPr>
          <p:cNvPr id="20" name="text-123"/>
          <p:cNvSpPr txBox="1"/>
          <p:nvPr/>
        </p:nvSpPr>
        <p:spPr>
          <a:xfrm>
            <a:off x="8366760" y="2560320"/>
            <a:ext cx="3063240" cy="502920"/>
          </a:xfrm>
          <a:prstGeom prst="rect">
            <a:avLst/>
          </a:prstGeom>
          <a:noFill/>
          <a:ln/>
        </p:spPr>
        <p:txBody>
          <a:bodyPr wrap="square" lIns="0" tIns="0" rIns="0" bIns="0" rtlCol="0" anchor="t"/>
          <a:lstStyle/>
          <a:p>
            <a:pPr indent="0" marL="0">
              <a:buNone/>
            </a:pPr>
            <a:r>
              <a:rPr lang="en-US" sz="1400" dirty="0">
                <a:solidFill>
                  <a:schemeClr val="tx2"/>
                </a:solidFill>
              </a:rPr>
              <a:t>sounds like your team and knows your product</a:t>
            </a:r>
            <a:endParaRPr lang="en-US" sz="1400" dirty="0"/>
          </a:p>
        </p:txBody>
      </p:sp>
      <p:sp>
        <p:nvSpPr>
          <p:cNvPr id="21" name="text-124"/>
          <p:cNvSpPr txBox="1"/>
          <p:nvPr/>
        </p:nvSpPr>
        <p:spPr>
          <a:xfrm>
            <a:off x="3749040" y="1371600"/>
            <a:ext cx="594360" cy="1783080"/>
          </a:xfrm>
          <a:prstGeom prst="rect">
            <a:avLst/>
          </a:prstGeom>
          <a:noFill/>
          <a:ln/>
        </p:spPr>
        <p:txBody>
          <a:bodyPr wrap="square" lIns="0" tIns="0" rIns="0" bIns="0" rtlCol="0" anchor="ctr"/>
          <a:lstStyle/>
          <a:p>
            <a:pPr algn="ctr" indent="0" marL="0">
              <a:buNone/>
            </a:pPr>
            <a:r>
              <a:rPr lang="en-US" sz="4000" b="1" dirty="0">
                <a:solidFill>
                  <a:schemeClr val="accent1"/>
                </a:solidFill>
              </a:rPr>
              <a:t>+</a:t>
            </a:r>
            <a:endParaRPr lang="en-US" sz="4000" dirty="0"/>
          </a:p>
        </p:txBody>
      </p:sp>
      <p:sp>
        <p:nvSpPr>
          <p:cNvPr id="22" name="text-125"/>
          <p:cNvSpPr txBox="1"/>
          <p:nvPr/>
        </p:nvSpPr>
        <p:spPr>
          <a:xfrm>
            <a:off x="7543800" y="1371600"/>
            <a:ext cx="594360" cy="1783080"/>
          </a:xfrm>
          <a:prstGeom prst="rect">
            <a:avLst/>
          </a:prstGeom>
          <a:noFill/>
          <a:ln/>
        </p:spPr>
        <p:txBody>
          <a:bodyPr wrap="square" lIns="0" tIns="0" rIns="0" bIns="0" rtlCol="0" anchor="ctr"/>
          <a:lstStyle/>
          <a:p>
            <a:pPr algn="ctr" indent="0" marL="0">
              <a:buNone/>
            </a:pPr>
            <a:r>
              <a:rPr lang="en-US" sz="4000" b="1" dirty="0">
                <a:solidFill>
                  <a:schemeClr val="accent1"/>
                </a:solidFill>
              </a:rPr>
              <a:t>=</a:t>
            </a:r>
            <a:endParaRPr lang="en-US" sz="4000" dirty="0"/>
          </a:p>
        </p:txBody>
      </p:sp>
      <p:sp>
        <p:nvSpPr>
          <p:cNvPr id="23" name="card-126"/>
          <p:cNvSpPr/>
          <p:nvPr/>
        </p:nvSpPr>
        <p:spPr>
          <a:xfrm>
            <a:off x="548640" y="3383280"/>
            <a:ext cx="6675120" cy="1737360"/>
          </a:xfrm>
          <a:prstGeom prst="roundRect">
            <a:avLst>
              <a:gd name="adj" fmla="val 6316"/>
            </a:avLst>
          </a:prstGeom>
          <a:solidFill>
            <a:schemeClr val="bg1"/>
          </a:solidFill>
          <a:ln w="12700">
            <a:solidFill>
              <a:schemeClr val="accent2"/>
            </a:solidFill>
            <a:prstDash val="solid"/>
          </a:ln>
        </p:spPr>
      </p:sp>
      <p:sp>
        <p:nvSpPr>
          <p:cNvPr id="24" name="text-127"/>
          <p:cNvSpPr txBox="1"/>
          <p:nvPr/>
        </p:nvSpPr>
        <p:spPr>
          <a:xfrm>
            <a:off x="777240" y="3493008"/>
            <a:ext cx="6309360" cy="365760"/>
          </a:xfrm>
          <a:prstGeom prst="rect">
            <a:avLst/>
          </a:prstGeom>
          <a:noFill/>
          <a:ln/>
        </p:spPr>
        <p:txBody>
          <a:bodyPr wrap="square" lIns="0" tIns="0" rIns="0" bIns="0" rtlCol="0" anchor="t"/>
          <a:lstStyle/>
          <a:p>
            <a:pPr indent="0" marL="0">
              <a:buNone/>
            </a:pPr>
            <a:r>
              <a:rPr lang="en-US" sz="1400" b="1" dirty="0">
                <a:solidFill>
                  <a:schemeClr val="tx1"/>
                </a:solidFill>
              </a:rPr>
              <a:t>Example: same skill, two PMs, two correct results — no prompt rewriting</a:t>
            </a:r>
            <a:endParaRPr lang="en-US" sz="1400" dirty="0"/>
          </a:p>
        </p:txBody>
      </p:sp>
      <p:sp>
        <p:nvSpPr>
          <p:cNvPr id="25" name="chip-128"/>
          <p:cNvSpPr/>
          <p:nvPr/>
        </p:nvSpPr>
        <p:spPr>
          <a:xfrm>
            <a:off x="777240" y="4251960"/>
            <a:ext cx="1783080" cy="365760"/>
          </a:xfrm>
          <a:prstGeom prst="roundRect">
            <a:avLst>
              <a:gd name="adj" fmla="val 50000"/>
            </a:avLst>
          </a:prstGeom>
          <a:solidFill>
            <a:schemeClr val="accent1"/>
          </a:solidFill>
          <a:ln/>
        </p:spPr>
      </p:sp>
      <p:sp>
        <p:nvSpPr>
          <p:cNvPr id="26" name="text-129"/>
          <p:cNvSpPr txBox="1"/>
          <p:nvPr/>
        </p:nvSpPr>
        <p:spPr>
          <a:xfrm>
            <a:off x="777240" y="4251960"/>
            <a:ext cx="178308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/release-notes</a:t>
            </a:r>
            <a:endParaRPr lang="en-US" sz="1300" dirty="0"/>
          </a:p>
        </p:txBody>
      </p:sp>
      <p:sp>
        <p:nvSpPr>
          <p:cNvPr id="27" name="arrow-130"/>
          <p:cNvSpPr/>
          <p:nvPr/>
        </p:nvSpPr>
        <p:spPr>
          <a:xfrm flipV="1">
            <a:off x="2606040" y="4114800"/>
            <a:ext cx="365760" cy="320040"/>
          </a:xfrm>
          <a:prstGeom prst="line">
            <a:avLst/>
          </a:prstGeom>
          <a:noFill/>
          <a:ln w="22225">
            <a:solidFill>
              <a:schemeClr val="accent4"/>
            </a:solidFill>
            <a:prstDash val="solid"/>
            <a:tailEnd type="triangle"/>
          </a:ln>
        </p:spPr>
      </p:sp>
      <p:sp>
        <p:nvSpPr>
          <p:cNvPr id="28" name="arrow-131"/>
          <p:cNvSpPr/>
          <p:nvPr/>
        </p:nvSpPr>
        <p:spPr>
          <a:xfrm>
            <a:off x="2606040" y="4434840"/>
            <a:ext cx="365760" cy="320040"/>
          </a:xfrm>
          <a:prstGeom prst="line">
            <a:avLst/>
          </a:prstGeom>
          <a:noFill/>
          <a:ln w="22225">
            <a:solidFill>
              <a:schemeClr val="accent4"/>
            </a:solidFill>
            <a:prstDash val="solid"/>
            <a:tailEnd type="triangle"/>
          </a:ln>
        </p:spPr>
      </p:sp>
      <p:sp>
        <p:nvSpPr>
          <p:cNvPr id="29" name="card-132"/>
          <p:cNvSpPr/>
          <p:nvPr/>
        </p:nvSpPr>
        <p:spPr>
          <a:xfrm>
            <a:off x="3017520" y="3904488"/>
            <a:ext cx="4023360" cy="457200"/>
          </a:xfrm>
          <a:prstGeom prst="roundRect">
            <a:avLst>
              <a:gd name="adj" fmla="val 16000"/>
            </a:avLst>
          </a:prstGeom>
          <a:solidFill>
            <a:schemeClr val="bg2"/>
          </a:solidFill>
          <a:ln/>
        </p:spPr>
      </p:sp>
      <p:sp>
        <p:nvSpPr>
          <p:cNvPr id="30" name="text-133"/>
          <p:cNvSpPr txBox="1"/>
          <p:nvPr/>
        </p:nvSpPr>
        <p:spPr>
          <a:xfrm>
            <a:off x="3154680" y="3904488"/>
            <a:ext cx="3840480" cy="457200"/>
          </a:xfrm>
          <a:prstGeom prst="rect">
            <a:avLst/>
          </a:prstGeom>
          <a:noFill/>
          <a:ln/>
        </p:spPr>
        <p:txBody>
          <a:bodyPr wrap="square" lIns="0" tIns="0" rIns="0" bIns="0" rtlCol="0" anchor="ctr"/>
          <a:lstStyle/>
          <a:p>
            <a:pPr indent="0" marL="0">
              <a:buNone/>
            </a:pPr>
            <a:r>
              <a:rPr lang="en-US" sz="1300" b="1" dirty="0">
                <a:solidFill>
                  <a:schemeClr val="tx1"/>
                </a:solidFill>
              </a:rPr>
              <a:t>João's brain → </a:t>
            </a:r>
            <a:pPr indent="0" marL="0">
              <a:buNone/>
            </a:pPr>
            <a:r>
              <a:rPr lang="en-US" sz="1300" dirty="0">
                <a:solidFill>
                  <a:schemeClr val="tx1"/>
                </a:solidFill>
              </a:rPr>
              <a:t>seller-facing notes, his template</a:t>
            </a:r>
            <a:endParaRPr lang="en-US" sz="1300" dirty="0"/>
          </a:p>
        </p:txBody>
      </p:sp>
      <p:sp>
        <p:nvSpPr>
          <p:cNvPr id="31" name="card-134"/>
          <p:cNvSpPr/>
          <p:nvPr/>
        </p:nvSpPr>
        <p:spPr>
          <a:xfrm>
            <a:off x="3017520" y="4526280"/>
            <a:ext cx="4023360" cy="457200"/>
          </a:xfrm>
          <a:prstGeom prst="roundRect">
            <a:avLst>
              <a:gd name="adj" fmla="val 16000"/>
            </a:avLst>
          </a:prstGeom>
          <a:solidFill>
            <a:schemeClr val="bg2"/>
          </a:solidFill>
          <a:ln/>
        </p:spPr>
      </p:sp>
      <p:sp>
        <p:nvSpPr>
          <p:cNvPr id="32" name="text-135"/>
          <p:cNvSpPr txBox="1"/>
          <p:nvPr/>
        </p:nvSpPr>
        <p:spPr>
          <a:xfrm>
            <a:off x="3154680" y="4526280"/>
            <a:ext cx="3840480" cy="457200"/>
          </a:xfrm>
          <a:prstGeom prst="rect">
            <a:avLst/>
          </a:prstGeom>
          <a:noFill/>
          <a:ln/>
        </p:spPr>
        <p:txBody>
          <a:bodyPr wrap="square" lIns="0" tIns="0" rIns="0" bIns="0" rtlCol="0" anchor="ctr"/>
          <a:lstStyle/>
          <a:p>
            <a:pPr indent="0" marL="0">
              <a:buNone/>
            </a:pPr>
            <a:r>
              <a:rPr lang="en-US" sz="1300" b="1" dirty="0">
                <a:solidFill>
                  <a:schemeClr val="tx1"/>
                </a:solidFill>
              </a:rPr>
              <a:t>A colleague's brain → </a:t>
            </a:r>
            <a:pPr indent="0" marL="0">
              <a:buNone/>
            </a:pPr>
            <a:r>
              <a:rPr lang="en-US" sz="1300" dirty="0">
                <a:solidFill>
                  <a:schemeClr val="tx1"/>
                </a:solidFill>
              </a:rPr>
              <a:t>ops-facing notes, her template</a:t>
            </a:r>
            <a:endParaRPr lang="en-US" sz="1300" dirty="0"/>
          </a:p>
        </p:txBody>
      </p:sp>
      <p:sp>
        <p:nvSpPr>
          <p:cNvPr id="33" name="card-136"/>
          <p:cNvSpPr/>
          <p:nvPr/>
        </p:nvSpPr>
        <p:spPr>
          <a:xfrm>
            <a:off x="7452360" y="3383280"/>
            <a:ext cx="4160520" cy="1737360"/>
          </a:xfrm>
          <a:prstGeom prst="roundRect">
            <a:avLst>
              <a:gd name="adj" fmla="val 6316"/>
            </a:avLst>
          </a:prstGeom>
          <a:solidFill>
            <a:schemeClr val="bg2"/>
          </a:solidFill>
          <a:ln/>
        </p:spPr>
      </p:sp>
      <p:sp>
        <p:nvSpPr>
          <p:cNvPr id="34" name="text-137"/>
          <p:cNvSpPr txBox="1"/>
          <p:nvPr/>
        </p:nvSpPr>
        <p:spPr>
          <a:xfrm>
            <a:off x="7680960" y="3493008"/>
            <a:ext cx="3749040" cy="365760"/>
          </a:xfrm>
          <a:prstGeom prst="rect">
            <a:avLst/>
          </a:prstGeom>
          <a:noFill/>
          <a:ln/>
        </p:spPr>
        <p:txBody>
          <a:bodyPr wrap="square" lIns="0" tIns="0" rIns="0" bIns="0" rtlCol="0" anchor="t"/>
          <a:lstStyle/>
          <a:p>
            <a:pPr indent="0" marL="0">
              <a:buNone/>
            </a:pPr>
            <a:r>
              <a:rPr lang="en-US" sz="1400" b="1" dirty="0">
                <a:solidFill>
                  <a:schemeClr val="tx1"/>
                </a:solidFill>
              </a:rPr>
              <a:t>The contract</a:t>
            </a:r>
            <a:endParaRPr lang="en-US" sz="1400" dirty="0"/>
          </a:p>
        </p:txBody>
      </p:sp>
      <p:sp>
        <p:nvSpPr>
          <p:cNvPr id="35" name="text-138"/>
          <p:cNvSpPr txBox="1"/>
          <p:nvPr/>
        </p:nvSpPr>
        <p:spPr>
          <a:xfrm>
            <a:off x="7680960" y="3840480"/>
            <a:ext cx="3749040" cy="594360"/>
          </a:xfrm>
          <a:prstGeom prst="rect">
            <a:avLst/>
          </a:prstGeom>
          <a:noFill/>
          <a:ln/>
        </p:spPr>
        <p:txBody>
          <a:bodyPr wrap="square" lIns="0" tIns="0" rIns="0" bIns="0" rtlCol="0" anchor="t"/>
          <a:lstStyle/>
          <a:p>
            <a:pPr indent="0" marL="0">
              <a:buNone/>
            </a:pPr>
            <a:r>
              <a:rPr lang="en-US" sz="1300" dirty="0">
                <a:solidFill>
                  <a:schemeClr val="tx2"/>
                </a:solidFill>
              </a:rPr>
              <a:t>Skills reach the brain only through three standard doors, so any skill works on any PM's product.</a:t>
            </a:r>
            <a:endParaRPr lang="en-US" sz="1300" dirty="0"/>
          </a:p>
        </p:txBody>
      </p:sp>
      <p:sp>
        <p:nvSpPr>
          <p:cNvPr id="36" name="chip-139"/>
          <p:cNvSpPr/>
          <p:nvPr/>
        </p:nvSpPr>
        <p:spPr>
          <a:xfrm>
            <a:off x="7680960" y="4572000"/>
            <a:ext cx="1170432" cy="347472"/>
          </a:xfrm>
          <a:prstGeom prst="roundRect">
            <a:avLst>
              <a:gd name="adj" fmla="val 50000"/>
            </a:avLst>
          </a:prstGeom>
          <a:solidFill>
            <a:schemeClr val="bg1"/>
          </a:solidFill>
          <a:ln/>
        </p:spPr>
      </p:sp>
      <p:sp>
        <p:nvSpPr>
          <p:cNvPr id="37" name="text-140"/>
          <p:cNvSpPr txBox="1"/>
          <p:nvPr/>
        </p:nvSpPr>
        <p:spPr>
          <a:xfrm>
            <a:off x="7680960" y="4572000"/>
            <a:ext cx="1170432" cy="347472"/>
          </a:xfrm>
          <a:prstGeom prst="rect">
            <a:avLst/>
          </a:prstGeom>
          <a:noFill/>
          <a:ln/>
        </p:spPr>
        <p:txBody>
          <a:bodyPr wrap="square" lIns="0" tIns="0" rIns="0" bIns="0" rtlCol="0" anchor="ctr"/>
          <a:lstStyle/>
          <a:p>
            <a:pPr algn="ctr" indent="0" marL="0">
              <a:buNone/>
            </a:pPr>
            <a:r>
              <a:rPr lang="en-US" sz="1200" b="1" dirty="0">
                <a:solidFill>
                  <a:schemeClr val="tx1"/>
                </a:solidFill>
              </a:rPr>
              <a:t>Settings</a:t>
            </a:r>
            <a:endParaRPr lang="en-US" sz="1200" dirty="0"/>
          </a:p>
        </p:txBody>
      </p:sp>
      <p:sp>
        <p:nvSpPr>
          <p:cNvPr id="38" name="chip-141"/>
          <p:cNvSpPr/>
          <p:nvPr/>
        </p:nvSpPr>
        <p:spPr>
          <a:xfrm>
            <a:off x="8961120" y="4572000"/>
            <a:ext cx="1170432" cy="347472"/>
          </a:xfrm>
          <a:prstGeom prst="roundRect">
            <a:avLst>
              <a:gd name="adj" fmla="val 50000"/>
            </a:avLst>
          </a:prstGeom>
          <a:solidFill>
            <a:schemeClr val="bg1"/>
          </a:solidFill>
          <a:ln/>
        </p:spPr>
      </p:sp>
      <p:sp>
        <p:nvSpPr>
          <p:cNvPr id="39" name="text-142"/>
          <p:cNvSpPr txBox="1"/>
          <p:nvPr/>
        </p:nvSpPr>
        <p:spPr>
          <a:xfrm>
            <a:off x="8961120" y="4572000"/>
            <a:ext cx="1170432" cy="347472"/>
          </a:xfrm>
          <a:prstGeom prst="rect">
            <a:avLst/>
          </a:prstGeom>
          <a:noFill/>
          <a:ln/>
        </p:spPr>
        <p:txBody>
          <a:bodyPr wrap="square" lIns="0" tIns="0" rIns="0" bIns="0" rtlCol="0" anchor="ctr"/>
          <a:lstStyle/>
          <a:p>
            <a:pPr algn="ctr" indent="0" marL="0">
              <a:buNone/>
            </a:pPr>
            <a:r>
              <a:rPr lang="en-US" sz="1200" b="1" dirty="0">
                <a:solidFill>
                  <a:schemeClr val="tx1"/>
                </a:solidFill>
              </a:rPr>
              <a:t>Preferences</a:t>
            </a:r>
            <a:endParaRPr lang="en-US" sz="1200" dirty="0"/>
          </a:p>
        </p:txBody>
      </p:sp>
      <p:sp>
        <p:nvSpPr>
          <p:cNvPr id="40" name="chip-143"/>
          <p:cNvSpPr/>
          <p:nvPr/>
        </p:nvSpPr>
        <p:spPr>
          <a:xfrm>
            <a:off x="10241280" y="4572000"/>
            <a:ext cx="1170432" cy="347472"/>
          </a:xfrm>
          <a:prstGeom prst="roundRect">
            <a:avLst>
              <a:gd name="adj" fmla="val 50000"/>
            </a:avLst>
          </a:prstGeom>
          <a:solidFill>
            <a:schemeClr val="bg1"/>
          </a:solidFill>
          <a:ln/>
        </p:spPr>
      </p:sp>
      <p:sp>
        <p:nvSpPr>
          <p:cNvPr id="41" name="text-144"/>
          <p:cNvSpPr txBox="1"/>
          <p:nvPr/>
        </p:nvSpPr>
        <p:spPr>
          <a:xfrm>
            <a:off x="10241280" y="4572000"/>
            <a:ext cx="1170432" cy="347472"/>
          </a:xfrm>
          <a:prstGeom prst="rect">
            <a:avLst/>
          </a:prstGeom>
          <a:noFill/>
          <a:ln/>
        </p:spPr>
        <p:txBody>
          <a:bodyPr wrap="square" lIns="0" tIns="0" rIns="0" bIns="0" rtlCol="0" anchor="ctr"/>
          <a:lstStyle/>
          <a:p>
            <a:pPr algn="ctr" indent="0" marL="0">
              <a:buNone/>
            </a:pPr>
            <a:r>
              <a:rPr lang="en-US" sz="1200" b="1" dirty="0">
                <a:solidFill>
                  <a:schemeClr val="tx1"/>
                </a:solidFill>
              </a:rPr>
              <a:t>Search</a:t>
            </a:r>
            <a:endParaRPr lang="en-US" sz="1200" dirty="0"/>
          </a:p>
        </p:txBody>
      </p:sp>
      <p:sp>
        <p:nvSpPr>
          <p:cNvPr id="42" name="card-145"/>
          <p:cNvSpPr/>
          <p:nvPr/>
        </p:nvSpPr>
        <p:spPr>
          <a:xfrm>
            <a:off x="548640" y="5349240"/>
            <a:ext cx="11064240" cy="822960"/>
          </a:xfrm>
          <a:prstGeom prst="roundRect">
            <a:avLst>
              <a:gd name="adj" fmla="val 13333"/>
            </a:avLst>
          </a:prstGeom>
          <a:solidFill>
            <a:schemeClr val="accent3"/>
          </a:solidFill>
          <a:ln/>
        </p:spPr>
      </p:sp>
      <p:sp>
        <p:nvSpPr>
          <p:cNvPr id="43" name="iconbg-146"/>
          <p:cNvSpPr/>
          <p:nvPr/>
        </p:nvSpPr>
        <p:spPr>
          <a:xfrm>
            <a:off x="777240" y="5513832"/>
            <a:ext cx="493776" cy="493776"/>
          </a:xfrm>
          <a:prstGeom prst="ellipse">
            <a:avLst/>
          </a:prstGeom>
          <a:solidFill>
            <a:schemeClr val="accent1"/>
          </a:solidFill>
          <a:ln/>
        </p:spPr>
      </p:sp>
      <p:pic>
        <p:nvPicPr>
          <p:cNvPr id="44" name="icon-147" descr="preencoded.png">    </p:cNvPr>
          <p:cNvPicPr>
            <a:picLocks noChangeAspect="1"/>
          </p:cNvPicPr>
          <p:nvPr/>
        </p:nvPicPr>
        <p:blipFill>
          <a:blip r:embed="rId4"/>
          <a:stretch>
            <a:fillRect/>
          </a:stretch>
        </p:blipFill>
        <p:spPr>
          <a:xfrm>
            <a:off x="885871" y="5622463"/>
            <a:ext cx="276515" cy="276515"/>
          </a:xfrm>
          <a:prstGeom prst="rect">
            <a:avLst/>
          </a:prstGeom>
        </p:spPr>
      </p:pic>
      <p:sp>
        <p:nvSpPr>
          <p:cNvPr id="45" name="text-148"/>
          <p:cNvSpPr txBox="1"/>
          <p:nvPr/>
        </p:nvSpPr>
        <p:spPr>
          <a:xfrm>
            <a:off x="1463040" y="5349240"/>
            <a:ext cx="5852160" cy="822960"/>
          </a:xfrm>
          <a:prstGeom prst="rect">
            <a:avLst/>
          </a:prstGeom>
          <a:noFill/>
          <a:ln/>
        </p:spPr>
        <p:txBody>
          <a:bodyPr wrap="square" lIns="0" tIns="0" rIns="0" bIns="0" rtlCol="0" anchor="ctr"/>
          <a:lstStyle/>
          <a:p>
            <a:pPr indent="0" marL="0">
              <a:buNone/>
            </a:pPr>
            <a:r>
              <a:rPr lang="en-US" sz="1300" b="1" dirty="0">
                <a:solidFill>
                  <a:schemeClr val="tx1"/>
                </a:solidFill>
              </a:rPr>
              <a:t>Marketplace: </a:t>
            </a:r>
            <a:pPr indent="0" marL="0">
              <a:buNone/>
            </a:pPr>
            <a:r>
              <a:rPr lang="en-US" sz="1300" dirty="0">
                <a:solidFill>
                  <a:schemeClr val="tx1"/>
                </a:solidFill>
              </a:rPr>
              <a:t>anyone can add a skill — catalog, template, review. Skills start experimental and become stable after real use.</a:t>
            </a:r>
            <a:endParaRPr lang="en-US" sz="1300" dirty="0"/>
          </a:p>
        </p:txBody>
      </p:sp>
      <p:sp>
        <p:nvSpPr>
          <p:cNvPr id="46" name="text-149"/>
          <p:cNvSpPr txBox="1"/>
          <p:nvPr/>
        </p:nvSpPr>
        <p:spPr>
          <a:xfrm>
            <a:off x="7452360" y="5349240"/>
            <a:ext cx="640080" cy="822960"/>
          </a:xfrm>
          <a:prstGeom prst="rect">
            <a:avLst/>
          </a:prstGeom>
          <a:noFill/>
          <a:ln/>
        </p:spPr>
        <p:txBody>
          <a:bodyPr wrap="square" lIns="0" tIns="0" rIns="0" bIns="0" rtlCol="0" anchor="ctr"/>
          <a:lstStyle/>
          <a:p>
            <a:pPr indent="0" marL="0">
              <a:buNone/>
            </a:pPr>
            <a:r>
              <a:rPr lang="en-US" sz="1300" b="1" dirty="0">
                <a:solidFill>
                  <a:schemeClr val="accent1"/>
                </a:solidFill>
              </a:rPr>
              <a:t>Ideas:</a:t>
            </a:r>
            <a:endParaRPr lang="en-US" sz="1300" dirty="0"/>
          </a:p>
        </p:txBody>
      </p:sp>
      <p:sp>
        <p:nvSpPr>
          <p:cNvPr id="47" name="chip-150"/>
          <p:cNvSpPr/>
          <p:nvPr/>
        </p:nvSpPr>
        <p:spPr>
          <a:xfrm>
            <a:off x="8046720" y="5596128"/>
            <a:ext cx="1234440" cy="329184"/>
          </a:xfrm>
          <a:prstGeom prst="roundRect">
            <a:avLst>
              <a:gd name="adj" fmla="val 50000"/>
            </a:avLst>
          </a:prstGeom>
          <a:solidFill>
            <a:schemeClr val="bg1"/>
          </a:solidFill>
          <a:ln/>
        </p:spPr>
      </p:sp>
      <p:sp>
        <p:nvSpPr>
          <p:cNvPr id="48" name="text-151"/>
          <p:cNvSpPr txBox="1"/>
          <p:nvPr/>
        </p:nvSpPr>
        <p:spPr>
          <a:xfrm>
            <a:off x="8046720" y="5596128"/>
            <a:ext cx="1234440" cy="329184"/>
          </a:xfrm>
          <a:prstGeom prst="rect">
            <a:avLst/>
          </a:prstGeom>
          <a:noFill/>
          <a:ln/>
        </p:spPr>
        <p:txBody>
          <a:bodyPr wrap="square" lIns="0" tIns="0" rIns="0" bIns="0" rtlCol="0" anchor="ctr"/>
          <a:lstStyle/>
          <a:p>
            <a:pPr algn="ctr" indent="0" marL="0">
              <a:buNone/>
            </a:pPr>
            <a:r>
              <a:rPr lang="en-US" sz="1100" b="1" dirty="0">
                <a:solidFill>
                  <a:schemeClr val="tx1"/>
                </a:solidFill>
              </a:rPr>
              <a:t>PowerPoint builder</a:t>
            </a:r>
            <a:endParaRPr lang="en-US" sz="1100" dirty="0"/>
          </a:p>
        </p:txBody>
      </p:sp>
      <p:sp>
        <p:nvSpPr>
          <p:cNvPr id="49" name="chip-152"/>
          <p:cNvSpPr/>
          <p:nvPr/>
        </p:nvSpPr>
        <p:spPr>
          <a:xfrm>
            <a:off x="9372600" y="5596128"/>
            <a:ext cx="914400" cy="329184"/>
          </a:xfrm>
          <a:prstGeom prst="roundRect">
            <a:avLst>
              <a:gd name="adj" fmla="val 50000"/>
            </a:avLst>
          </a:prstGeom>
          <a:solidFill>
            <a:schemeClr val="bg1"/>
          </a:solidFill>
          <a:ln/>
        </p:spPr>
      </p:sp>
      <p:sp>
        <p:nvSpPr>
          <p:cNvPr id="50" name="text-153"/>
          <p:cNvSpPr txBox="1"/>
          <p:nvPr/>
        </p:nvSpPr>
        <p:spPr>
          <a:xfrm>
            <a:off x="9372600" y="5596128"/>
            <a:ext cx="914400" cy="329184"/>
          </a:xfrm>
          <a:prstGeom prst="rect">
            <a:avLst/>
          </a:prstGeom>
          <a:noFill/>
          <a:ln/>
        </p:spPr>
        <p:txBody>
          <a:bodyPr wrap="square" lIns="0" tIns="0" rIns="0" bIns="0" rtlCol="0" anchor="ctr"/>
          <a:lstStyle/>
          <a:p>
            <a:pPr algn="ctr" indent="0" marL="0">
              <a:buNone/>
            </a:pPr>
            <a:r>
              <a:rPr lang="en-US" sz="1100" b="1" dirty="0">
                <a:solidFill>
                  <a:schemeClr val="tx1"/>
                </a:solidFill>
              </a:rPr>
              <a:t>PRD drafts</a:t>
            </a:r>
            <a:endParaRPr lang="en-US" sz="1100" dirty="0"/>
          </a:p>
        </p:txBody>
      </p:sp>
      <p:sp>
        <p:nvSpPr>
          <p:cNvPr id="51" name="chip-154"/>
          <p:cNvSpPr/>
          <p:nvPr/>
        </p:nvSpPr>
        <p:spPr>
          <a:xfrm>
            <a:off x="10378440" y="5596128"/>
            <a:ext cx="1097280" cy="329184"/>
          </a:xfrm>
          <a:prstGeom prst="roundRect">
            <a:avLst>
              <a:gd name="adj" fmla="val 50000"/>
            </a:avLst>
          </a:prstGeom>
          <a:solidFill>
            <a:schemeClr val="bg1"/>
          </a:solidFill>
          <a:ln/>
        </p:spPr>
      </p:sp>
      <p:sp>
        <p:nvSpPr>
          <p:cNvPr id="52" name="text-155"/>
          <p:cNvSpPr txBox="1"/>
          <p:nvPr/>
        </p:nvSpPr>
        <p:spPr>
          <a:xfrm>
            <a:off x="10378440" y="5596128"/>
            <a:ext cx="1097280" cy="329184"/>
          </a:xfrm>
          <a:prstGeom prst="rect">
            <a:avLst/>
          </a:prstGeom>
          <a:noFill/>
          <a:ln/>
        </p:spPr>
        <p:txBody>
          <a:bodyPr wrap="square" lIns="0" tIns="0" rIns="0" bIns="0" rtlCol="0" anchor="ctr"/>
          <a:lstStyle/>
          <a:p>
            <a:pPr algn="ctr" indent="0" marL="0">
              <a:buNone/>
            </a:pPr>
            <a:r>
              <a:rPr lang="en-US" sz="1100" b="1" dirty="0">
                <a:solidFill>
                  <a:schemeClr val="tx1"/>
                </a:solidFill>
              </a:rPr>
              <a:t>Roadmap review</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1"/>
                </a:solidFill>
              </a:rPr>
              <a:t>The agent team and a PM's week</a:t>
            </a:r>
            <a:endParaRPr lang="en-US" sz="3600" dirty="0"/>
          </a:p>
        </p:txBody>
      </p:sp>
      <p:sp>
        <p:nvSpPr>
          <p:cNvPr id="3" name="card-156"/>
          <p:cNvSpPr/>
          <p:nvPr/>
        </p:nvSpPr>
        <p:spPr>
          <a:xfrm>
            <a:off x="548640" y="1371600"/>
            <a:ext cx="2066544" cy="2194560"/>
          </a:xfrm>
          <a:prstGeom prst="roundRect">
            <a:avLst>
              <a:gd name="adj" fmla="val 5310"/>
            </a:avLst>
          </a:prstGeom>
          <a:solidFill>
            <a:schemeClr val="accent3"/>
          </a:solidFill>
          <a:ln/>
        </p:spPr>
      </p:sp>
      <p:sp>
        <p:nvSpPr>
          <p:cNvPr id="4" name="iconbg-157"/>
          <p:cNvSpPr/>
          <p:nvPr/>
        </p:nvSpPr>
        <p:spPr>
          <a:xfrm>
            <a:off x="749808" y="1572768"/>
            <a:ext cx="457200" cy="457200"/>
          </a:xfrm>
          <a:prstGeom prst="ellipse">
            <a:avLst/>
          </a:prstGeom>
          <a:solidFill>
            <a:schemeClr val="accent1"/>
          </a:solidFill>
          <a:ln/>
        </p:spPr>
      </p:sp>
      <p:pic>
        <p:nvPicPr>
          <p:cNvPr id="5" name="icon-158" descr="preencoded.png">    </p:cNvPr>
          <p:cNvPicPr>
            <a:picLocks noChangeAspect="1"/>
          </p:cNvPicPr>
          <p:nvPr/>
        </p:nvPicPr>
        <p:blipFill>
          <a:blip r:embed="rId1"/>
          <a:stretch>
            <a:fillRect/>
          </a:stretch>
        </p:blipFill>
        <p:spPr>
          <a:xfrm>
            <a:off x="850392" y="1673352"/>
            <a:ext cx="256032" cy="256032"/>
          </a:xfrm>
          <a:prstGeom prst="rect">
            <a:avLst/>
          </a:prstGeom>
        </p:spPr>
      </p:pic>
      <p:sp>
        <p:nvSpPr>
          <p:cNvPr id="6" name="text-159"/>
          <p:cNvSpPr txBox="1"/>
          <p:nvPr/>
        </p:nvSpPr>
        <p:spPr>
          <a:xfrm>
            <a:off x="749808" y="2121408"/>
            <a:ext cx="1700784" cy="320040"/>
          </a:xfrm>
          <a:prstGeom prst="rect">
            <a:avLst/>
          </a:prstGeom>
          <a:noFill/>
          <a:ln/>
        </p:spPr>
        <p:txBody>
          <a:bodyPr wrap="square" lIns="0" tIns="0" rIns="0" bIns="0" rtlCol="0" anchor="t"/>
          <a:lstStyle/>
          <a:p>
            <a:pPr indent="0" marL="0">
              <a:buNone/>
            </a:pPr>
            <a:r>
              <a:rPr lang="en-US" sz="1500" b="1" dirty="0">
                <a:solidFill>
                  <a:schemeClr val="tx1"/>
                </a:solidFill>
              </a:rPr>
              <a:t>Brain Keeper</a:t>
            </a:r>
            <a:endParaRPr lang="en-US" sz="1500" dirty="0"/>
          </a:p>
        </p:txBody>
      </p:sp>
      <p:sp>
        <p:nvSpPr>
          <p:cNvPr id="7" name="text-160"/>
          <p:cNvSpPr txBox="1"/>
          <p:nvPr/>
        </p:nvSpPr>
        <p:spPr>
          <a:xfrm>
            <a:off x="749808" y="2441448"/>
            <a:ext cx="1700784" cy="274320"/>
          </a:xfrm>
          <a:prstGeom prst="rect">
            <a:avLst/>
          </a:prstGeom>
          <a:noFill/>
          <a:ln/>
        </p:spPr>
        <p:txBody>
          <a:bodyPr wrap="square" lIns="0" tIns="0" rIns="0" bIns="0" rtlCol="0" anchor="t"/>
          <a:lstStyle/>
          <a:p>
            <a:pPr indent="0" marL="0">
              <a:buNone/>
            </a:pPr>
            <a:r>
              <a:rPr lang="en-US" sz="1200" dirty="0">
                <a:solidFill>
                  <a:schemeClr val="tx2"/>
                </a:solidFill>
              </a:rPr>
              <a:t>Remembers and answers</a:t>
            </a:r>
            <a:endParaRPr lang="en-US" sz="1200" dirty="0"/>
          </a:p>
        </p:txBody>
      </p:sp>
      <p:sp>
        <p:nvSpPr>
          <p:cNvPr id="8" name="text-161"/>
          <p:cNvSpPr txBox="1"/>
          <p:nvPr/>
        </p:nvSpPr>
        <p:spPr>
          <a:xfrm>
            <a:off x="749808" y="2761488"/>
            <a:ext cx="1746504" cy="7315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/onboard /ingest /ask /decision /sweep</a:t>
            </a:r>
            <a:endParaRPr lang="en-US" sz="1200" dirty="0"/>
          </a:p>
        </p:txBody>
      </p:sp>
      <p:sp>
        <p:nvSpPr>
          <p:cNvPr id="9" name="card-162"/>
          <p:cNvSpPr/>
          <p:nvPr/>
        </p:nvSpPr>
        <p:spPr>
          <a:xfrm>
            <a:off x="2798064" y="1371600"/>
            <a:ext cx="2066544" cy="2194560"/>
          </a:xfrm>
          <a:prstGeom prst="roundRect">
            <a:avLst>
              <a:gd name="adj" fmla="val 5310"/>
            </a:avLst>
          </a:prstGeom>
          <a:solidFill>
            <a:schemeClr val="bg2"/>
          </a:solidFill>
          <a:ln/>
        </p:spPr>
      </p:sp>
      <p:sp>
        <p:nvSpPr>
          <p:cNvPr id="10" name="iconbg-163"/>
          <p:cNvSpPr/>
          <p:nvPr/>
        </p:nvSpPr>
        <p:spPr>
          <a:xfrm>
            <a:off x="2999232" y="1572768"/>
            <a:ext cx="457200" cy="457200"/>
          </a:xfrm>
          <a:prstGeom prst="ellipse">
            <a:avLst/>
          </a:prstGeom>
          <a:solidFill>
            <a:schemeClr val="tx1"/>
          </a:solidFill>
          <a:ln/>
        </p:spPr>
      </p:sp>
      <p:pic>
        <p:nvPicPr>
          <p:cNvPr id="11" name="icon-164" descr="preencoded.png">    </p:cNvPr>
          <p:cNvPicPr>
            <a:picLocks noChangeAspect="1"/>
          </p:cNvPicPr>
          <p:nvPr/>
        </p:nvPicPr>
        <p:blipFill>
          <a:blip r:embed="rId2"/>
          <a:stretch>
            <a:fillRect/>
          </a:stretch>
        </p:blipFill>
        <p:spPr>
          <a:xfrm>
            <a:off x="3099816" y="1673352"/>
            <a:ext cx="256032" cy="256032"/>
          </a:xfrm>
          <a:prstGeom prst="rect">
            <a:avLst/>
          </a:prstGeom>
        </p:spPr>
      </p:pic>
      <p:sp>
        <p:nvSpPr>
          <p:cNvPr id="12" name="text-165"/>
          <p:cNvSpPr txBox="1"/>
          <p:nvPr/>
        </p:nvSpPr>
        <p:spPr>
          <a:xfrm>
            <a:off x="2999232" y="2121408"/>
            <a:ext cx="1700784" cy="320040"/>
          </a:xfrm>
          <a:prstGeom prst="rect">
            <a:avLst/>
          </a:prstGeom>
          <a:noFill/>
          <a:ln/>
        </p:spPr>
        <p:txBody>
          <a:bodyPr wrap="square" lIns="0" tIns="0" rIns="0" bIns="0" rtlCol="0" anchor="t"/>
          <a:lstStyle/>
          <a:p>
            <a:pPr indent="0" marL="0">
              <a:buNone/>
            </a:pPr>
            <a:r>
              <a:rPr lang="en-US" sz="1500" b="1" dirty="0">
                <a:solidFill>
                  <a:schemeClr val="tx1"/>
                </a:solidFill>
              </a:rPr>
              <a:t>Backlog Writer</a:t>
            </a:r>
            <a:endParaRPr lang="en-US" sz="1500" dirty="0"/>
          </a:p>
        </p:txBody>
      </p:sp>
      <p:sp>
        <p:nvSpPr>
          <p:cNvPr id="13" name="text-166"/>
          <p:cNvSpPr txBox="1"/>
          <p:nvPr/>
        </p:nvSpPr>
        <p:spPr>
          <a:xfrm>
            <a:off x="2999232" y="2441448"/>
            <a:ext cx="1700784" cy="274320"/>
          </a:xfrm>
          <a:prstGeom prst="rect">
            <a:avLst/>
          </a:prstGeom>
          <a:noFill/>
          <a:ln/>
        </p:spPr>
        <p:txBody>
          <a:bodyPr wrap="square" lIns="0" tIns="0" rIns="0" bIns="0" rtlCol="0" anchor="t"/>
          <a:lstStyle/>
          <a:p>
            <a:pPr indent="0" marL="0">
              <a:buNone/>
            </a:pPr>
            <a:r>
              <a:rPr lang="en-US" sz="1200" dirty="0">
                <a:solidFill>
                  <a:schemeClr val="tx2"/>
                </a:solidFill>
              </a:rPr>
              <a:t>Ideas into user stories</a:t>
            </a:r>
            <a:endParaRPr lang="en-US" sz="1200" dirty="0"/>
          </a:p>
        </p:txBody>
      </p:sp>
      <p:sp>
        <p:nvSpPr>
          <p:cNvPr id="14" name="text-167"/>
          <p:cNvSpPr txBox="1"/>
          <p:nvPr/>
        </p:nvSpPr>
        <p:spPr>
          <a:xfrm>
            <a:off x="2999232" y="2761488"/>
            <a:ext cx="1746504" cy="7315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/user-story</a:t>
            </a:r>
            <a:endParaRPr lang="en-US" sz="1200" dirty="0"/>
          </a:p>
        </p:txBody>
      </p:sp>
      <p:sp>
        <p:nvSpPr>
          <p:cNvPr id="15" name="card-168"/>
          <p:cNvSpPr/>
          <p:nvPr/>
        </p:nvSpPr>
        <p:spPr>
          <a:xfrm>
            <a:off x="5047488" y="1371600"/>
            <a:ext cx="2066544" cy="2194560"/>
          </a:xfrm>
          <a:prstGeom prst="roundRect">
            <a:avLst>
              <a:gd name="adj" fmla="val 5310"/>
            </a:avLst>
          </a:prstGeom>
          <a:solidFill>
            <a:schemeClr val="bg2"/>
          </a:solidFill>
          <a:ln/>
        </p:spPr>
      </p:sp>
      <p:sp>
        <p:nvSpPr>
          <p:cNvPr id="16" name="iconbg-169"/>
          <p:cNvSpPr/>
          <p:nvPr/>
        </p:nvSpPr>
        <p:spPr>
          <a:xfrm>
            <a:off x="5248656" y="1572768"/>
            <a:ext cx="457200" cy="457200"/>
          </a:xfrm>
          <a:prstGeom prst="ellipse">
            <a:avLst/>
          </a:prstGeom>
          <a:solidFill>
            <a:schemeClr val="tx1"/>
          </a:solidFill>
          <a:ln/>
        </p:spPr>
      </p:sp>
      <p:pic>
        <p:nvPicPr>
          <p:cNvPr id="17" name="icon-170" descr="preencoded.png">    </p:cNvPr>
          <p:cNvPicPr>
            <a:picLocks noChangeAspect="1"/>
          </p:cNvPicPr>
          <p:nvPr/>
        </p:nvPicPr>
        <p:blipFill>
          <a:blip r:embed="rId3"/>
          <a:stretch>
            <a:fillRect/>
          </a:stretch>
        </p:blipFill>
        <p:spPr>
          <a:xfrm>
            <a:off x="5349240" y="1673352"/>
            <a:ext cx="256032" cy="256032"/>
          </a:xfrm>
          <a:prstGeom prst="rect">
            <a:avLst/>
          </a:prstGeom>
        </p:spPr>
      </p:pic>
      <p:sp>
        <p:nvSpPr>
          <p:cNvPr id="18" name="text-171"/>
          <p:cNvSpPr txBox="1"/>
          <p:nvPr/>
        </p:nvSpPr>
        <p:spPr>
          <a:xfrm>
            <a:off x="5248656" y="2121408"/>
            <a:ext cx="1700784" cy="320040"/>
          </a:xfrm>
          <a:prstGeom prst="rect">
            <a:avLst/>
          </a:prstGeom>
          <a:noFill/>
          <a:ln/>
        </p:spPr>
        <p:txBody>
          <a:bodyPr wrap="square" lIns="0" tIns="0" rIns="0" bIns="0" rtlCol="0" anchor="t"/>
          <a:lstStyle/>
          <a:p>
            <a:pPr indent="0" marL="0">
              <a:buNone/>
            </a:pPr>
            <a:r>
              <a:rPr lang="en-US" sz="1500" b="1" dirty="0">
                <a:solidFill>
                  <a:schemeClr val="tx1"/>
                </a:solidFill>
              </a:rPr>
              <a:t>Release Manager</a:t>
            </a:r>
            <a:endParaRPr lang="en-US" sz="1500" dirty="0"/>
          </a:p>
        </p:txBody>
      </p:sp>
      <p:sp>
        <p:nvSpPr>
          <p:cNvPr id="19" name="text-172"/>
          <p:cNvSpPr txBox="1"/>
          <p:nvPr/>
        </p:nvSpPr>
        <p:spPr>
          <a:xfrm>
            <a:off x="5248656" y="2441448"/>
            <a:ext cx="1700784" cy="274320"/>
          </a:xfrm>
          <a:prstGeom prst="rect">
            <a:avLst/>
          </a:prstGeom>
          <a:noFill/>
          <a:ln/>
        </p:spPr>
        <p:txBody>
          <a:bodyPr wrap="square" lIns="0" tIns="0" rIns="0" bIns="0" rtlCol="0" anchor="t"/>
          <a:lstStyle/>
          <a:p>
            <a:pPr indent="0" marL="0">
              <a:buNone/>
            </a:pPr>
            <a:r>
              <a:rPr lang="en-US" sz="1200" dirty="0">
                <a:solidFill>
                  <a:schemeClr val="tx2"/>
                </a:solidFill>
              </a:rPr>
              <a:t>User-facing release notes</a:t>
            </a:r>
            <a:endParaRPr lang="en-US" sz="1200" dirty="0"/>
          </a:p>
        </p:txBody>
      </p:sp>
      <p:sp>
        <p:nvSpPr>
          <p:cNvPr id="20" name="text-173"/>
          <p:cNvSpPr txBox="1"/>
          <p:nvPr/>
        </p:nvSpPr>
        <p:spPr>
          <a:xfrm>
            <a:off x="5248656" y="2761488"/>
            <a:ext cx="1746504" cy="7315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/release-notes</a:t>
            </a:r>
            <a:endParaRPr lang="en-US" sz="1200" dirty="0"/>
          </a:p>
        </p:txBody>
      </p:sp>
      <p:sp>
        <p:nvSpPr>
          <p:cNvPr id="21" name="card-174"/>
          <p:cNvSpPr/>
          <p:nvPr/>
        </p:nvSpPr>
        <p:spPr>
          <a:xfrm>
            <a:off x="7296912" y="1371600"/>
            <a:ext cx="2066544" cy="2194560"/>
          </a:xfrm>
          <a:prstGeom prst="roundRect">
            <a:avLst>
              <a:gd name="adj" fmla="val 5310"/>
            </a:avLst>
          </a:prstGeom>
          <a:solidFill>
            <a:schemeClr val="bg2"/>
          </a:solidFill>
          <a:ln/>
        </p:spPr>
      </p:sp>
      <p:sp>
        <p:nvSpPr>
          <p:cNvPr id="22" name="iconbg-175"/>
          <p:cNvSpPr/>
          <p:nvPr/>
        </p:nvSpPr>
        <p:spPr>
          <a:xfrm>
            <a:off x="7498080" y="1572768"/>
            <a:ext cx="457200" cy="457200"/>
          </a:xfrm>
          <a:prstGeom prst="ellipse">
            <a:avLst/>
          </a:prstGeom>
          <a:solidFill>
            <a:schemeClr val="tx1"/>
          </a:solidFill>
          <a:ln/>
        </p:spPr>
      </p:sp>
      <p:pic>
        <p:nvPicPr>
          <p:cNvPr id="23" name="icon-176" descr="preencoded.png">    </p:cNvPr>
          <p:cNvPicPr>
            <a:picLocks noChangeAspect="1"/>
          </p:cNvPicPr>
          <p:nvPr/>
        </p:nvPicPr>
        <p:blipFill>
          <a:blip r:embed="rId4"/>
          <a:stretch>
            <a:fillRect/>
          </a:stretch>
        </p:blipFill>
        <p:spPr>
          <a:xfrm>
            <a:off x="7598664" y="1673352"/>
            <a:ext cx="256032" cy="256032"/>
          </a:xfrm>
          <a:prstGeom prst="rect">
            <a:avLst/>
          </a:prstGeom>
        </p:spPr>
      </p:pic>
      <p:sp>
        <p:nvSpPr>
          <p:cNvPr id="24" name="text-177"/>
          <p:cNvSpPr txBox="1"/>
          <p:nvPr/>
        </p:nvSpPr>
        <p:spPr>
          <a:xfrm>
            <a:off x="7498080" y="2121408"/>
            <a:ext cx="1700784" cy="320040"/>
          </a:xfrm>
          <a:prstGeom prst="rect">
            <a:avLst/>
          </a:prstGeom>
          <a:noFill/>
          <a:ln/>
        </p:spPr>
        <p:txBody>
          <a:bodyPr wrap="square" lIns="0" tIns="0" rIns="0" bIns="0" rtlCol="0" anchor="t"/>
          <a:lstStyle/>
          <a:p>
            <a:pPr indent="0" marL="0">
              <a:buNone/>
            </a:pPr>
            <a:r>
              <a:rPr lang="en-US" sz="1500" b="1" dirty="0">
                <a:solidFill>
                  <a:schemeClr val="tx1"/>
                </a:solidFill>
              </a:rPr>
              <a:t>Reporter</a:t>
            </a:r>
            <a:endParaRPr lang="en-US" sz="1500" dirty="0"/>
          </a:p>
        </p:txBody>
      </p:sp>
      <p:sp>
        <p:nvSpPr>
          <p:cNvPr id="25" name="text-178"/>
          <p:cNvSpPr txBox="1"/>
          <p:nvPr/>
        </p:nvSpPr>
        <p:spPr>
          <a:xfrm>
            <a:off x="7498080" y="2441448"/>
            <a:ext cx="1700784" cy="274320"/>
          </a:xfrm>
          <a:prstGeom prst="rect">
            <a:avLst/>
          </a:prstGeom>
          <a:noFill/>
          <a:ln/>
        </p:spPr>
        <p:txBody>
          <a:bodyPr wrap="square" lIns="0" tIns="0" rIns="0" bIns="0" rtlCol="0" anchor="t"/>
          <a:lstStyle/>
          <a:p>
            <a:pPr indent="0" marL="0">
              <a:buNone/>
            </a:pPr>
            <a:r>
              <a:rPr lang="en-US" sz="1200" dirty="0">
                <a:solidFill>
                  <a:schemeClr val="tx2"/>
                </a:solidFill>
              </a:rPr>
              <a:t>Weekly status and digest</a:t>
            </a:r>
            <a:endParaRPr lang="en-US" sz="1200" dirty="0"/>
          </a:p>
        </p:txBody>
      </p:sp>
      <p:sp>
        <p:nvSpPr>
          <p:cNvPr id="26" name="text-179"/>
          <p:cNvSpPr txBox="1"/>
          <p:nvPr/>
        </p:nvSpPr>
        <p:spPr>
          <a:xfrm>
            <a:off x="7498080" y="2761488"/>
            <a:ext cx="1746504" cy="7315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/weekly-status /publish</a:t>
            </a:r>
            <a:endParaRPr lang="en-US" sz="1200" dirty="0"/>
          </a:p>
        </p:txBody>
      </p:sp>
      <p:sp>
        <p:nvSpPr>
          <p:cNvPr id="27" name="card-180"/>
          <p:cNvSpPr/>
          <p:nvPr/>
        </p:nvSpPr>
        <p:spPr>
          <a:xfrm>
            <a:off x="9546336" y="1371600"/>
            <a:ext cx="2066544" cy="2194560"/>
          </a:xfrm>
          <a:prstGeom prst="roundRect">
            <a:avLst>
              <a:gd name="adj" fmla="val 5310"/>
            </a:avLst>
          </a:prstGeom>
          <a:solidFill>
            <a:schemeClr val="bg2"/>
          </a:solidFill>
          <a:ln/>
        </p:spPr>
      </p:sp>
      <p:sp>
        <p:nvSpPr>
          <p:cNvPr id="28" name="iconbg-181"/>
          <p:cNvSpPr/>
          <p:nvPr/>
        </p:nvSpPr>
        <p:spPr>
          <a:xfrm>
            <a:off x="9747504" y="1572768"/>
            <a:ext cx="457200" cy="457200"/>
          </a:xfrm>
          <a:prstGeom prst="ellipse">
            <a:avLst/>
          </a:prstGeom>
          <a:solidFill>
            <a:schemeClr val="tx1"/>
          </a:solidFill>
          <a:ln/>
        </p:spPr>
      </p:sp>
      <p:pic>
        <p:nvPicPr>
          <p:cNvPr id="29" name="icon-182" descr="preencoded.png">    </p:cNvPr>
          <p:cNvPicPr>
            <a:picLocks noChangeAspect="1"/>
          </p:cNvPicPr>
          <p:nvPr/>
        </p:nvPicPr>
        <p:blipFill>
          <a:blip r:embed="rId5"/>
          <a:stretch>
            <a:fillRect/>
          </a:stretch>
        </p:blipFill>
        <p:spPr>
          <a:xfrm>
            <a:off x="9848088" y="1673352"/>
            <a:ext cx="256032" cy="256032"/>
          </a:xfrm>
          <a:prstGeom prst="rect">
            <a:avLst/>
          </a:prstGeom>
        </p:spPr>
      </p:pic>
      <p:sp>
        <p:nvSpPr>
          <p:cNvPr id="30" name="text-183"/>
          <p:cNvSpPr txBox="1"/>
          <p:nvPr/>
        </p:nvSpPr>
        <p:spPr>
          <a:xfrm>
            <a:off x="9747504" y="2121408"/>
            <a:ext cx="1700784" cy="320040"/>
          </a:xfrm>
          <a:prstGeom prst="rect">
            <a:avLst/>
          </a:prstGeom>
          <a:noFill/>
          <a:ln/>
        </p:spPr>
        <p:txBody>
          <a:bodyPr wrap="square" lIns="0" tIns="0" rIns="0" bIns="0" rtlCol="0" anchor="t"/>
          <a:lstStyle/>
          <a:p>
            <a:pPr indent="0" marL="0">
              <a:buNone/>
            </a:pPr>
            <a:r>
              <a:rPr lang="en-US" sz="1500" b="1" dirty="0">
                <a:solidFill>
                  <a:schemeClr val="tx1"/>
                </a:solidFill>
              </a:rPr>
              <a:t>Connector</a:t>
            </a:r>
            <a:endParaRPr lang="en-US" sz="1500" dirty="0"/>
          </a:p>
        </p:txBody>
      </p:sp>
      <p:sp>
        <p:nvSpPr>
          <p:cNvPr id="31" name="text-184"/>
          <p:cNvSpPr txBox="1"/>
          <p:nvPr/>
        </p:nvSpPr>
        <p:spPr>
          <a:xfrm>
            <a:off x="9747504" y="2441448"/>
            <a:ext cx="1700784" cy="274320"/>
          </a:xfrm>
          <a:prstGeom prst="rect">
            <a:avLst/>
          </a:prstGeom>
          <a:noFill/>
          <a:ln/>
        </p:spPr>
        <p:txBody>
          <a:bodyPr wrap="square" lIns="0" tIns="0" rIns="0" bIns="0" rtlCol="0" anchor="t"/>
          <a:lstStyle/>
          <a:p>
            <a:pPr indent="0" marL="0">
              <a:buNone/>
            </a:pPr>
            <a:r>
              <a:rPr lang="en-US" sz="1200" dirty="0">
                <a:solidFill>
                  <a:schemeClr val="tx2"/>
                </a:solidFill>
              </a:rPr>
              <a:t>Links work across the team</a:t>
            </a:r>
            <a:endParaRPr lang="en-US" sz="1200" dirty="0"/>
          </a:p>
        </p:txBody>
      </p:sp>
      <p:sp>
        <p:nvSpPr>
          <p:cNvPr id="32" name="text-185"/>
          <p:cNvSpPr txBox="1"/>
          <p:nvPr/>
        </p:nvSpPr>
        <p:spPr>
          <a:xfrm>
            <a:off x="9747504" y="2761488"/>
            <a:ext cx="1746504" cy="7315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/team-status /connect-dots</a:t>
            </a:r>
            <a:endParaRPr lang="en-US" sz="1200" dirty="0"/>
          </a:p>
        </p:txBody>
      </p:sp>
      <p:sp>
        <p:nvSpPr>
          <p:cNvPr id="33" name="text-186"/>
          <p:cNvSpPr txBox="1"/>
          <p:nvPr/>
        </p:nvSpPr>
        <p:spPr>
          <a:xfrm>
            <a:off x="548640" y="3794760"/>
            <a:ext cx="2743200" cy="274320"/>
          </a:xfrm>
          <a:prstGeom prst="rect">
            <a:avLst/>
          </a:prstGeom>
          <a:noFill/>
          <a:ln/>
        </p:spPr>
        <p:txBody>
          <a:bodyPr wrap="square" lIns="0" tIns="0" rIns="0" bIns="0" rtlCol="0" anchor="t"/>
          <a:lstStyle/>
          <a:p>
            <a:pPr indent="0" marL="0">
              <a:buNone/>
            </a:pPr>
            <a:r>
              <a:rPr lang="en-US" sz="1200" b="1" spc="200" kern="0" dirty="0">
                <a:solidFill>
                  <a:schemeClr val="tx2"/>
                </a:solidFill>
              </a:rPr>
              <a:t>A PM'S WEEK</a:t>
            </a:r>
            <a:endParaRPr lang="en-US" sz="1200" dirty="0"/>
          </a:p>
        </p:txBody>
      </p:sp>
      <p:sp>
        <p:nvSpPr>
          <p:cNvPr id="34" name="timeline-187"/>
          <p:cNvSpPr/>
          <p:nvPr/>
        </p:nvSpPr>
        <p:spPr>
          <a:xfrm>
            <a:off x="1097280" y="4343400"/>
            <a:ext cx="9966960" cy="0"/>
          </a:xfrm>
          <a:prstGeom prst="line">
            <a:avLst/>
          </a:prstGeom>
          <a:noFill/>
          <a:ln w="38100">
            <a:solidFill>
              <a:schemeClr val="accent2"/>
            </a:solidFill>
            <a:prstDash val="solid"/>
          </a:ln>
        </p:spPr>
      </p:sp>
      <p:sp>
        <p:nvSpPr>
          <p:cNvPr id="35" name="dot-188"/>
          <p:cNvSpPr/>
          <p:nvPr/>
        </p:nvSpPr>
        <p:spPr>
          <a:xfrm>
            <a:off x="1719072" y="4187952"/>
            <a:ext cx="310896" cy="310896"/>
          </a:xfrm>
          <a:prstGeom prst="ellipse">
            <a:avLst/>
          </a:prstGeom>
          <a:solidFill>
            <a:schemeClr val="tx1"/>
          </a:solidFill>
          <a:ln w="25400">
            <a:solidFill>
              <a:schemeClr val="bg1"/>
            </a:solidFill>
            <a:prstDash val="solid"/>
          </a:ln>
        </p:spPr>
      </p:sp>
      <p:sp>
        <p:nvSpPr>
          <p:cNvPr id="36" name="text-189"/>
          <p:cNvSpPr txBox="1"/>
          <p:nvPr/>
        </p:nvSpPr>
        <p:spPr>
          <a:xfrm>
            <a:off x="548640" y="4572000"/>
            <a:ext cx="2651760" cy="320040"/>
          </a:xfrm>
          <a:prstGeom prst="rect">
            <a:avLst/>
          </a:prstGeom>
          <a:noFill/>
          <a:ln/>
        </p:spPr>
        <p:txBody>
          <a:bodyPr wrap="square" lIns="0" tIns="0" rIns="0" bIns="0" rtlCol="0" anchor="t"/>
          <a:lstStyle/>
          <a:p>
            <a:pPr algn="ctr" indent="0" marL="0">
              <a:buNone/>
            </a:pPr>
            <a:r>
              <a:rPr lang="en-US" sz="1500" b="1" dirty="0">
                <a:solidFill>
                  <a:schemeClr val="tx1"/>
                </a:solidFill>
              </a:rPr>
              <a:t>Daily</a:t>
            </a:r>
            <a:endParaRPr lang="en-US" sz="1500" dirty="0"/>
          </a:p>
        </p:txBody>
      </p:sp>
      <p:sp>
        <p:nvSpPr>
          <p:cNvPr id="37" name="card-190"/>
          <p:cNvSpPr/>
          <p:nvPr/>
        </p:nvSpPr>
        <p:spPr>
          <a:xfrm>
            <a:off x="548640" y="4956048"/>
            <a:ext cx="2651760" cy="1216152"/>
          </a:xfrm>
          <a:prstGeom prst="roundRect">
            <a:avLst>
              <a:gd name="adj" fmla="val 9023"/>
            </a:avLst>
          </a:prstGeom>
          <a:solidFill>
            <a:schemeClr val="bg2"/>
          </a:solidFill>
          <a:ln/>
        </p:spPr>
      </p:sp>
      <p:sp>
        <p:nvSpPr>
          <p:cNvPr id="38" name="text-191"/>
          <p:cNvSpPr txBox="1"/>
          <p:nvPr/>
        </p:nvSpPr>
        <p:spPr>
          <a:xfrm>
            <a:off x="731520" y="5029200"/>
            <a:ext cx="2286000" cy="1069848"/>
          </a:xfrm>
          <a:prstGeom prst="rect">
            <a:avLst/>
          </a:prstGeom>
          <a:noFill/>
          <a:ln/>
        </p:spPr>
        <p:txBody>
          <a:bodyPr wrap="square" lIns="0" tIns="0" rIns="0" bIns="0" rtlCol="0" anchor="ctr"/>
          <a:lstStyle/>
          <a:p>
            <a:pPr indent="0" marL="0">
              <a:buNone/>
            </a:pPr>
            <a:r>
              <a:rPr lang="en-US" sz="1300" dirty="0">
                <a:solidFill>
                  <a:schemeClr val="tx1"/>
                </a:solidFill>
              </a:rPr>
              <a:t>Drop transcripts in the inbox and run </a:t>
            </a:r>
            <a:pPr indent="0" marL="0">
              <a:buNone/>
            </a:pPr>
            <a:r>
              <a:rPr lang="en-US" sz="1300" b="1" dirty="0">
                <a:solidFill>
                  <a:schemeClr val="accent1"/>
                </a:solidFill>
                <a:latin typeface="Courier New" pitchFamily="34" charset="0"/>
                <a:ea typeface="Courier New" pitchFamily="34" charset="-122"/>
                <a:cs typeface="Courier New" pitchFamily="34" charset="-120"/>
              </a:rPr>
              <a:t>/ingest</a:t>
            </a:r>
            <a:pPr indent="0" marL="0">
              <a:buNone/>
            </a:pPr>
            <a:r>
              <a:rPr lang="en-US" sz="1300" dirty="0">
                <a:solidFill>
                  <a:schemeClr val="tx1"/>
                </a:solidFill>
              </a:rPr>
              <a:t>. Use </a:t>
            </a:r>
            <a:pPr indent="0" marL="0">
              <a:buNone/>
            </a:pPr>
            <a:r>
              <a:rPr lang="en-US" sz="1300" b="1" dirty="0">
                <a:solidFill>
                  <a:schemeClr val="accent1"/>
                </a:solidFill>
                <a:latin typeface="Courier New" pitchFamily="34" charset="0"/>
                <a:ea typeface="Courier New" pitchFamily="34" charset="-122"/>
                <a:cs typeface="Courier New" pitchFamily="34" charset="-120"/>
              </a:rPr>
              <a:t>/ask</a:t>
            </a:r>
            <a:pPr indent="0" marL="0">
              <a:buNone/>
            </a:pPr>
            <a:r>
              <a:rPr lang="en-US" sz="1300" dirty="0">
                <a:solidFill>
                  <a:schemeClr val="tx1"/>
                </a:solidFill>
              </a:rPr>
              <a:t> any time.</a:t>
            </a:r>
            <a:endParaRPr lang="en-US" sz="1300" dirty="0"/>
          </a:p>
        </p:txBody>
      </p:sp>
      <p:sp>
        <p:nvSpPr>
          <p:cNvPr id="39" name="dot-192"/>
          <p:cNvSpPr/>
          <p:nvPr/>
        </p:nvSpPr>
        <p:spPr>
          <a:xfrm>
            <a:off x="4523537" y="4187952"/>
            <a:ext cx="310896" cy="310896"/>
          </a:xfrm>
          <a:prstGeom prst="ellipse">
            <a:avLst/>
          </a:prstGeom>
          <a:solidFill>
            <a:schemeClr val="tx1"/>
          </a:solidFill>
          <a:ln w="25400">
            <a:solidFill>
              <a:schemeClr val="bg1"/>
            </a:solidFill>
            <a:prstDash val="solid"/>
          </a:ln>
        </p:spPr>
      </p:sp>
      <p:sp>
        <p:nvSpPr>
          <p:cNvPr id="40" name="text-193"/>
          <p:cNvSpPr txBox="1"/>
          <p:nvPr/>
        </p:nvSpPr>
        <p:spPr>
          <a:xfrm>
            <a:off x="3353105" y="4572000"/>
            <a:ext cx="2651760" cy="320040"/>
          </a:xfrm>
          <a:prstGeom prst="rect">
            <a:avLst/>
          </a:prstGeom>
          <a:noFill/>
          <a:ln/>
        </p:spPr>
        <p:txBody>
          <a:bodyPr wrap="square" lIns="0" tIns="0" rIns="0" bIns="0" rtlCol="0" anchor="t"/>
          <a:lstStyle/>
          <a:p>
            <a:pPr algn="ctr" indent="0" marL="0">
              <a:buNone/>
            </a:pPr>
            <a:r>
              <a:rPr lang="en-US" sz="1500" b="1" dirty="0">
                <a:solidFill>
                  <a:schemeClr val="tx1"/>
                </a:solidFill>
              </a:rPr>
              <a:t>During the sprint</a:t>
            </a:r>
            <a:endParaRPr lang="en-US" sz="1500" dirty="0"/>
          </a:p>
        </p:txBody>
      </p:sp>
      <p:sp>
        <p:nvSpPr>
          <p:cNvPr id="41" name="card-194"/>
          <p:cNvSpPr/>
          <p:nvPr/>
        </p:nvSpPr>
        <p:spPr>
          <a:xfrm>
            <a:off x="3353105" y="4956048"/>
            <a:ext cx="2651760" cy="1216152"/>
          </a:xfrm>
          <a:prstGeom prst="roundRect">
            <a:avLst>
              <a:gd name="adj" fmla="val 9023"/>
            </a:avLst>
          </a:prstGeom>
          <a:solidFill>
            <a:schemeClr val="bg2"/>
          </a:solidFill>
          <a:ln/>
        </p:spPr>
      </p:sp>
      <p:sp>
        <p:nvSpPr>
          <p:cNvPr id="42" name="text-195"/>
          <p:cNvSpPr txBox="1"/>
          <p:nvPr/>
        </p:nvSpPr>
        <p:spPr>
          <a:xfrm>
            <a:off x="3535985" y="5029200"/>
            <a:ext cx="2286000" cy="1069848"/>
          </a:xfrm>
          <a:prstGeom prst="rect">
            <a:avLst/>
          </a:prstGeom>
          <a:noFill/>
          <a:ln/>
        </p:spPr>
        <p:txBody>
          <a:bodyPr wrap="square" lIns="0" tIns="0" rIns="0" bIns="0" rtlCol="0" anchor="ctr"/>
          <a:lstStyle/>
          <a:p>
            <a:pPr indent="0" marL="0">
              <a:buNone/>
            </a:pPr>
            <a:r>
              <a:rPr lang="en-US" sz="1300" dirty="0">
                <a:solidFill>
                  <a:schemeClr val="tx1"/>
                </a:solidFill>
              </a:rPr>
              <a:t>Stories: </a:t>
            </a:r>
            <a:pPr indent="0" marL="0">
              <a:buNone/>
            </a:pPr>
            <a:r>
              <a:rPr lang="en-US" sz="1300" b="1" dirty="0">
                <a:solidFill>
                  <a:schemeClr val="accent1"/>
                </a:solidFill>
                <a:latin typeface="Courier New" pitchFamily="34" charset="0"/>
                <a:ea typeface="Courier New" pitchFamily="34" charset="-122"/>
                <a:cs typeface="Courier New" pitchFamily="34" charset="-120"/>
              </a:rPr>
              <a:t>/user-story</a:t>
            </a:r>
            <a:pPr indent="0" marL="0">
              <a:buNone/>
            </a:pPr>
            <a:endParaRPr lang="en-US" sz="1300" dirty="0"/>
          </a:p>
          <a:p>
            <a:pPr indent="0" marL="0">
              <a:buNone/>
            </a:pPr>
            <a:r>
              <a:rPr lang="en-US" sz="1300" dirty="0">
                <a:solidFill>
                  <a:schemeClr val="tx1"/>
                </a:solidFill>
              </a:rPr>
              <a:t>Notes: </a:t>
            </a:r>
            <a:pPr indent="0" marL="0">
              <a:buNone/>
            </a:pPr>
            <a:r>
              <a:rPr lang="en-US" sz="1300" b="1" dirty="0">
                <a:solidFill>
                  <a:schemeClr val="accent1"/>
                </a:solidFill>
                <a:latin typeface="Courier New" pitchFamily="34" charset="0"/>
                <a:ea typeface="Courier New" pitchFamily="34" charset="-122"/>
                <a:cs typeface="Courier New" pitchFamily="34" charset="-120"/>
              </a:rPr>
              <a:t>/release-notes</a:t>
            </a:r>
            <a:endParaRPr lang="en-US" sz="1300" dirty="0"/>
          </a:p>
        </p:txBody>
      </p:sp>
      <p:sp>
        <p:nvSpPr>
          <p:cNvPr id="43" name="dot-196"/>
          <p:cNvSpPr/>
          <p:nvPr/>
        </p:nvSpPr>
        <p:spPr>
          <a:xfrm>
            <a:off x="7328002" y="4187952"/>
            <a:ext cx="310896" cy="310896"/>
          </a:xfrm>
          <a:prstGeom prst="ellipse">
            <a:avLst/>
          </a:prstGeom>
          <a:solidFill>
            <a:schemeClr val="tx1"/>
          </a:solidFill>
          <a:ln w="25400">
            <a:solidFill>
              <a:schemeClr val="bg1"/>
            </a:solidFill>
            <a:prstDash val="solid"/>
          </a:ln>
        </p:spPr>
      </p:sp>
      <p:sp>
        <p:nvSpPr>
          <p:cNvPr id="44" name="text-197"/>
          <p:cNvSpPr txBox="1"/>
          <p:nvPr/>
        </p:nvSpPr>
        <p:spPr>
          <a:xfrm>
            <a:off x="6157570" y="4572000"/>
            <a:ext cx="2651760" cy="320040"/>
          </a:xfrm>
          <a:prstGeom prst="rect">
            <a:avLst/>
          </a:prstGeom>
          <a:noFill/>
          <a:ln/>
        </p:spPr>
        <p:txBody>
          <a:bodyPr wrap="square" lIns="0" tIns="0" rIns="0" bIns="0" rtlCol="0" anchor="t"/>
          <a:lstStyle/>
          <a:p>
            <a:pPr algn="ctr" indent="0" marL="0">
              <a:buNone/>
            </a:pPr>
            <a:r>
              <a:rPr lang="en-US" sz="1500" b="1" dirty="0">
                <a:solidFill>
                  <a:schemeClr val="tx1"/>
                </a:solidFill>
              </a:rPr>
              <a:t>Friday</a:t>
            </a:r>
            <a:endParaRPr lang="en-US" sz="1500" dirty="0"/>
          </a:p>
        </p:txBody>
      </p:sp>
      <p:sp>
        <p:nvSpPr>
          <p:cNvPr id="45" name="card-198"/>
          <p:cNvSpPr/>
          <p:nvPr/>
        </p:nvSpPr>
        <p:spPr>
          <a:xfrm>
            <a:off x="6157570" y="4956048"/>
            <a:ext cx="2651760" cy="1216152"/>
          </a:xfrm>
          <a:prstGeom prst="roundRect">
            <a:avLst>
              <a:gd name="adj" fmla="val 9023"/>
            </a:avLst>
          </a:prstGeom>
          <a:solidFill>
            <a:schemeClr val="bg2"/>
          </a:solidFill>
          <a:ln/>
        </p:spPr>
      </p:sp>
      <p:sp>
        <p:nvSpPr>
          <p:cNvPr id="46" name="text-199"/>
          <p:cNvSpPr txBox="1"/>
          <p:nvPr/>
        </p:nvSpPr>
        <p:spPr>
          <a:xfrm>
            <a:off x="6340450" y="5029200"/>
            <a:ext cx="2286000" cy="106984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/sweep</a:t>
            </a:r>
            <a:pPr indent="0" marL="0">
              <a:buNone/>
            </a:pPr>
            <a:r>
              <a:rPr lang="en-US" sz="1300" dirty="0">
                <a:solidFill>
                  <a:schemeClr val="tx1"/>
                </a:solidFill>
              </a:rPr>
              <a:t> tidies the memory, then </a:t>
            </a:r>
            <a:pPr indent="0" marL="0">
              <a:buNone/>
            </a:pPr>
            <a:r>
              <a:rPr lang="en-US" sz="1300" b="1" dirty="0">
                <a:solidFill>
                  <a:schemeClr val="accent1"/>
                </a:solidFill>
                <a:latin typeface="Courier New" pitchFamily="34" charset="0"/>
                <a:ea typeface="Courier New" pitchFamily="34" charset="-122"/>
                <a:cs typeface="Courier New" pitchFamily="34" charset="-120"/>
              </a:rPr>
              <a:t>/publish</a:t>
            </a:r>
            <a:pPr indent="0" marL="0">
              <a:buNone/>
            </a:pPr>
            <a:r>
              <a:rPr lang="en-US" sz="1300" dirty="0">
                <a:solidFill>
                  <a:schemeClr val="tx1"/>
                </a:solidFill>
              </a:rPr>
              <a:t> shares your approved digest.</a:t>
            </a:r>
            <a:endParaRPr lang="en-US" sz="1300" dirty="0"/>
          </a:p>
        </p:txBody>
      </p:sp>
      <p:sp>
        <p:nvSpPr>
          <p:cNvPr id="47" name="dot-200"/>
          <p:cNvSpPr/>
          <p:nvPr/>
        </p:nvSpPr>
        <p:spPr>
          <a:xfrm>
            <a:off x="10132466" y="4187952"/>
            <a:ext cx="310896" cy="310896"/>
          </a:xfrm>
          <a:prstGeom prst="ellipse">
            <a:avLst/>
          </a:prstGeom>
          <a:solidFill>
            <a:schemeClr val="accent1"/>
          </a:solidFill>
          <a:ln w="25400">
            <a:solidFill>
              <a:schemeClr val="bg1"/>
            </a:solidFill>
            <a:prstDash val="solid"/>
          </a:ln>
        </p:spPr>
      </p:sp>
      <p:sp>
        <p:nvSpPr>
          <p:cNvPr id="48" name="text-201"/>
          <p:cNvSpPr txBox="1"/>
          <p:nvPr/>
        </p:nvSpPr>
        <p:spPr>
          <a:xfrm>
            <a:off x="8962034" y="4572000"/>
            <a:ext cx="2651760" cy="320040"/>
          </a:xfrm>
          <a:prstGeom prst="rect">
            <a:avLst/>
          </a:prstGeom>
          <a:noFill/>
          <a:ln/>
        </p:spPr>
        <p:txBody>
          <a:bodyPr wrap="square" lIns="0" tIns="0" rIns="0" bIns="0" rtlCol="0" anchor="t"/>
          <a:lstStyle/>
          <a:p>
            <a:pPr algn="ctr" indent="0" marL="0">
              <a:buNone/>
            </a:pPr>
            <a:r>
              <a:rPr lang="en-US" sz="1500" b="1" dirty="0">
                <a:solidFill>
                  <a:schemeClr val="accent1"/>
                </a:solidFill>
              </a:rPr>
              <a:t>Monday · manager</a:t>
            </a:r>
            <a:endParaRPr lang="en-US" sz="1500" dirty="0"/>
          </a:p>
        </p:txBody>
      </p:sp>
      <p:sp>
        <p:nvSpPr>
          <p:cNvPr id="49" name="card-202"/>
          <p:cNvSpPr/>
          <p:nvPr/>
        </p:nvSpPr>
        <p:spPr>
          <a:xfrm>
            <a:off x="8962034" y="4956048"/>
            <a:ext cx="2651760" cy="1216152"/>
          </a:xfrm>
          <a:prstGeom prst="roundRect">
            <a:avLst>
              <a:gd name="adj" fmla="val 9023"/>
            </a:avLst>
          </a:prstGeom>
          <a:solidFill>
            <a:schemeClr val="accent3"/>
          </a:solidFill>
          <a:ln/>
        </p:spPr>
      </p:sp>
      <p:sp>
        <p:nvSpPr>
          <p:cNvPr id="50" name="text-203"/>
          <p:cNvSpPr txBox="1"/>
          <p:nvPr/>
        </p:nvSpPr>
        <p:spPr>
          <a:xfrm>
            <a:off x="9144914" y="5029200"/>
            <a:ext cx="2286000" cy="106984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/team-status</a:t>
            </a:r>
            <a:pPr indent="0" marL="0">
              <a:buNone/>
            </a:pPr>
            <a:r>
              <a:rPr lang="en-US" sz="1300" dirty="0">
                <a:solidFill>
                  <a:schemeClr val="tx1"/>
                </a:solidFill>
              </a:rPr>
              <a:t> rolls up the team, then </a:t>
            </a:r>
            <a:pPr indent="0" marL="0">
              <a:buNone/>
            </a:pPr>
            <a:r>
              <a:rPr lang="en-US" sz="1300" b="1" dirty="0">
                <a:solidFill>
                  <a:schemeClr val="accent1"/>
                </a:solidFill>
                <a:latin typeface="Courier New" pitchFamily="34" charset="0"/>
                <a:ea typeface="Courier New" pitchFamily="34" charset="-122"/>
                <a:cs typeface="Courier New" pitchFamily="34" charset="-120"/>
              </a:rPr>
              <a:t>/connect-dots</a:t>
            </a:r>
            <a:pPr indent="0" marL="0">
              <a:buNone/>
            </a:pPr>
            <a:r>
              <a:rPr lang="en-US" sz="1300" dirty="0">
                <a:solidFill>
                  <a:schemeClr val="tx1"/>
                </a:solidFill>
              </a:rPr>
              <a:t> finds overlaps.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1"/>
                </a:solidFill>
              </a:rPr>
              <a:t>Private by default, connected by design</a:t>
            </a:r>
            <a:endParaRPr lang="en-US" sz="3600" dirty="0"/>
          </a:p>
        </p:txBody>
      </p:sp>
      <p:sp>
        <p:nvSpPr>
          <p:cNvPr id="3" name="card-204"/>
          <p:cNvSpPr/>
          <p:nvPr/>
        </p:nvSpPr>
        <p:spPr>
          <a:xfrm>
            <a:off x="548640" y="1371600"/>
            <a:ext cx="5212080" cy="1645920"/>
          </a:xfrm>
          <a:prstGeom prst="roundRect">
            <a:avLst>
              <a:gd name="adj" fmla="val 6667"/>
            </a:avLst>
          </a:prstGeom>
          <a:solidFill>
            <a:schemeClr val="bg2"/>
          </a:solidFill>
          <a:ln/>
        </p:spPr>
      </p:sp>
      <p:sp>
        <p:nvSpPr>
          <p:cNvPr id="4" name="iconbg-205"/>
          <p:cNvSpPr/>
          <p:nvPr/>
        </p:nvSpPr>
        <p:spPr>
          <a:xfrm>
            <a:off x="777240" y="1572768"/>
            <a:ext cx="502920" cy="502920"/>
          </a:xfrm>
          <a:prstGeom prst="ellipse">
            <a:avLst/>
          </a:prstGeom>
          <a:solidFill>
            <a:schemeClr val="tx1"/>
          </a:solidFill>
          <a:ln/>
        </p:spPr>
      </p:sp>
      <p:pic>
        <p:nvPicPr>
          <p:cNvPr id="5" name="icon-206" descr="preencoded.png">    </p:cNvPr>
          <p:cNvPicPr>
            <a:picLocks noChangeAspect="1"/>
          </p:cNvPicPr>
          <p:nvPr/>
        </p:nvPicPr>
        <p:blipFill>
          <a:blip r:embed="rId1"/>
          <a:stretch>
            <a:fillRect/>
          </a:stretch>
        </p:blipFill>
        <p:spPr>
          <a:xfrm>
            <a:off x="887882" y="1683410"/>
            <a:ext cx="281635" cy="281635"/>
          </a:xfrm>
          <a:prstGeom prst="rect">
            <a:avLst/>
          </a:prstGeom>
        </p:spPr>
      </p:pic>
      <p:sp>
        <p:nvSpPr>
          <p:cNvPr id="6" name="text-207"/>
          <p:cNvSpPr txBox="1"/>
          <p:nvPr/>
        </p:nvSpPr>
        <p:spPr>
          <a:xfrm>
            <a:off x="1463040" y="1572768"/>
            <a:ext cx="4114800" cy="502920"/>
          </a:xfrm>
          <a:prstGeom prst="rect">
            <a:avLst/>
          </a:prstGeom>
          <a:noFill/>
          <a:ln/>
        </p:spPr>
        <p:txBody>
          <a:bodyPr wrap="square" lIns="0" tIns="0" rIns="0" bIns="0" rtlCol="0" anchor="ctr"/>
          <a:lstStyle/>
          <a:p>
            <a:pPr indent="0" marL="0">
              <a:buNone/>
            </a:pPr>
            <a:r>
              <a:rPr lang="en-US" sz="1800" b="1" dirty="0">
                <a:solidFill>
                  <a:schemeClr val="tx1"/>
                </a:solidFill>
              </a:rPr>
              <a:t>Stays on your laptop</a:t>
            </a:r>
            <a:endParaRPr lang="en-US" sz="1800" dirty="0"/>
          </a:p>
        </p:txBody>
      </p:sp>
      <p:sp>
        <p:nvSpPr>
          <p:cNvPr id="7" name="text-208"/>
          <p:cNvSpPr txBox="1"/>
          <p:nvPr/>
        </p:nvSpPr>
        <p:spPr>
          <a:xfrm>
            <a:off x="777240" y="2212848"/>
            <a:ext cx="4754880" cy="685800"/>
          </a:xfrm>
          <a:prstGeom prst="rect">
            <a:avLst/>
          </a:prstGeom>
          <a:noFill/>
          <a:ln/>
        </p:spPr>
        <p:txBody>
          <a:bodyPr wrap="square" lIns="0" tIns="0" rIns="0" bIns="0" rtlCol="0" anchor="t"/>
          <a:lstStyle/>
          <a:p>
            <a:pPr indent="0" marL="0">
              <a:buNone/>
            </a:pPr>
            <a:r>
              <a:rPr lang="en-US" sz="1400" dirty="0">
                <a:solidFill>
                  <a:schemeClr val="tx2"/>
                </a:solidFill>
              </a:rPr>
              <a:t>Transcripts, meeting notes, people notes, opinions and anything marked private.</a:t>
            </a:r>
            <a:endParaRPr lang="en-US" sz="1400" dirty="0"/>
          </a:p>
        </p:txBody>
      </p:sp>
      <p:sp>
        <p:nvSpPr>
          <p:cNvPr id="8" name="arrow-209"/>
          <p:cNvSpPr/>
          <p:nvPr/>
        </p:nvSpPr>
        <p:spPr>
          <a:xfrm>
            <a:off x="1024128" y="3063240"/>
            <a:ext cx="0" cy="502920"/>
          </a:xfrm>
          <a:prstGeom prst="line">
            <a:avLst/>
          </a:prstGeom>
          <a:noFill/>
          <a:ln w="25400">
            <a:solidFill>
              <a:schemeClr val="accent1"/>
            </a:solidFill>
            <a:prstDash val="solid"/>
            <a:tailEnd type="triangle"/>
          </a:ln>
        </p:spPr>
      </p:sp>
      <p:sp>
        <p:nvSpPr>
          <p:cNvPr id="9" name="text-210"/>
          <p:cNvSpPr txBox="1"/>
          <p:nvPr/>
        </p:nvSpPr>
        <p:spPr>
          <a:xfrm>
            <a:off x="1280160" y="3127248"/>
            <a:ext cx="4114800" cy="365760"/>
          </a:xfrm>
          <a:prstGeom prst="rect">
            <a:avLst/>
          </a:prstGeom>
          <a:noFill/>
          <a:ln/>
        </p:spPr>
        <p:txBody>
          <a:bodyPr wrap="square" lIns="0" tIns="0" rIns="0" bIns="0" rtlCol="0" anchor="ctr"/>
          <a:lstStyle/>
          <a:p>
            <a:pPr indent="0" marL="0">
              <a:buNone/>
            </a:pPr>
            <a:r>
              <a:rPr lang="en-US" sz="1200" b="1" i="1" dirty="0">
                <a:solidFill>
                  <a:schemeClr val="accent1"/>
                </a:solidFill>
              </a:rPr>
              <a:t>privacy check + your explicit yes</a:t>
            </a:r>
            <a:endParaRPr lang="en-US" sz="1200" dirty="0"/>
          </a:p>
        </p:txBody>
      </p:sp>
      <p:sp>
        <p:nvSpPr>
          <p:cNvPr id="10" name="card-211"/>
          <p:cNvSpPr/>
          <p:nvPr/>
        </p:nvSpPr>
        <p:spPr>
          <a:xfrm>
            <a:off x="548640" y="3611880"/>
            <a:ext cx="5212080" cy="1645920"/>
          </a:xfrm>
          <a:prstGeom prst="roundRect">
            <a:avLst>
              <a:gd name="adj" fmla="val 6667"/>
            </a:avLst>
          </a:prstGeom>
          <a:solidFill>
            <a:schemeClr val="accent3"/>
          </a:solidFill>
          <a:ln/>
        </p:spPr>
      </p:sp>
      <p:sp>
        <p:nvSpPr>
          <p:cNvPr id="11" name="iconbg-212"/>
          <p:cNvSpPr/>
          <p:nvPr/>
        </p:nvSpPr>
        <p:spPr>
          <a:xfrm>
            <a:off x="777240" y="3813048"/>
            <a:ext cx="502920" cy="502920"/>
          </a:xfrm>
          <a:prstGeom prst="ellipse">
            <a:avLst/>
          </a:prstGeom>
          <a:solidFill>
            <a:schemeClr val="accent1"/>
          </a:solidFill>
          <a:ln/>
        </p:spPr>
      </p:sp>
      <p:pic>
        <p:nvPicPr>
          <p:cNvPr id="12" name="icon-213" descr="preencoded.png">    </p:cNvPr>
          <p:cNvPicPr>
            <a:picLocks noChangeAspect="1"/>
          </p:cNvPicPr>
          <p:nvPr/>
        </p:nvPicPr>
        <p:blipFill>
          <a:blip r:embed="rId2"/>
          <a:stretch>
            <a:fillRect/>
          </a:stretch>
        </p:blipFill>
        <p:spPr>
          <a:xfrm>
            <a:off x="887882" y="3923690"/>
            <a:ext cx="281635" cy="281635"/>
          </a:xfrm>
          <a:prstGeom prst="rect">
            <a:avLst/>
          </a:prstGeom>
        </p:spPr>
      </p:pic>
      <p:sp>
        <p:nvSpPr>
          <p:cNvPr id="13" name="text-214"/>
          <p:cNvSpPr txBox="1"/>
          <p:nvPr/>
        </p:nvSpPr>
        <p:spPr>
          <a:xfrm>
            <a:off x="1463040" y="3813048"/>
            <a:ext cx="4114800" cy="502920"/>
          </a:xfrm>
          <a:prstGeom prst="rect">
            <a:avLst/>
          </a:prstGeom>
          <a:noFill/>
          <a:ln/>
        </p:spPr>
        <p:txBody>
          <a:bodyPr wrap="square" lIns="0" tIns="0" rIns="0" bIns="0" rtlCol="0" anchor="ctr"/>
          <a:lstStyle/>
          <a:p>
            <a:pPr indent="0" marL="0">
              <a:buNone/>
            </a:pPr>
            <a:r>
              <a:rPr lang="en-US" sz="1800" b="1" dirty="0">
                <a:solidFill>
                  <a:schemeClr val="tx1"/>
                </a:solidFill>
              </a:rPr>
              <a:t>Shared weekly, after your approval</a:t>
            </a:r>
            <a:endParaRPr lang="en-US" sz="1800" dirty="0"/>
          </a:p>
        </p:txBody>
      </p:sp>
      <p:sp>
        <p:nvSpPr>
          <p:cNvPr id="14" name="text-215"/>
          <p:cNvSpPr txBox="1"/>
          <p:nvPr/>
        </p:nvSpPr>
        <p:spPr>
          <a:xfrm>
            <a:off x="777240" y="4453128"/>
            <a:ext cx="4754880" cy="685800"/>
          </a:xfrm>
          <a:prstGeom prst="rect">
            <a:avLst/>
          </a:prstGeom>
          <a:noFill/>
          <a:ln/>
        </p:spPr>
        <p:txBody>
          <a:bodyPr wrap="square" lIns="0" tIns="0" rIns="0" bIns="0" rtlCol="0" anchor="t"/>
          <a:lstStyle/>
          <a:p>
            <a:pPr indent="0" marL="0">
              <a:buNone/>
            </a:pPr>
            <a:r>
              <a:rPr lang="en-US" sz="1400" dirty="0">
                <a:solidFill>
                  <a:schemeClr val="tx1"/>
                </a:solidFill>
              </a:rPr>
              <a:t>What you're building, what others can reuse, what you need, shareable decisions, risks and asks.</a:t>
            </a:r>
            <a:endParaRPr lang="en-US" sz="1400" dirty="0"/>
          </a:p>
        </p:txBody>
      </p:sp>
      <p:sp>
        <p:nvSpPr>
          <p:cNvPr id="15" name="card-216"/>
          <p:cNvSpPr/>
          <p:nvPr/>
        </p:nvSpPr>
        <p:spPr>
          <a:xfrm>
            <a:off x="548640" y="5486400"/>
            <a:ext cx="5212080" cy="685800"/>
          </a:xfrm>
          <a:prstGeom prst="roundRect">
            <a:avLst>
              <a:gd name="adj" fmla="val 16000"/>
            </a:avLst>
          </a:prstGeom>
          <a:solidFill>
            <a:schemeClr val="bg1"/>
          </a:solidFill>
          <a:ln w="15875">
            <a:solidFill>
              <a:schemeClr val="accent1"/>
            </a:solidFill>
            <a:prstDash val="solid"/>
          </a:ln>
        </p:spPr>
      </p:sp>
      <p:pic>
        <p:nvPicPr>
          <p:cNvPr id="16" name="icon-217" descr="preencoded.png">    </p:cNvPr>
          <p:cNvPicPr>
            <a:picLocks noChangeAspect="1"/>
          </p:cNvPicPr>
          <p:nvPr/>
        </p:nvPicPr>
        <p:blipFill>
          <a:blip r:embed="rId3"/>
          <a:stretch>
            <a:fillRect/>
          </a:stretch>
        </p:blipFill>
        <p:spPr>
          <a:xfrm>
            <a:off x="731520" y="5641848"/>
            <a:ext cx="365760" cy="365760"/>
          </a:xfrm>
          <a:prstGeom prst="rect">
            <a:avLst/>
          </a:prstGeom>
        </p:spPr>
      </p:pic>
      <p:sp>
        <p:nvSpPr>
          <p:cNvPr id="17" name="text-218"/>
          <p:cNvSpPr txBox="1"/>
          <p:nvPr/>
        </p:nvSpPr>
        <p:spPr>
          <a:xfrm>
            <a:off x="1234440" y="5486400"/>
            <a:ext cx="4434840" cy="685800"/>
          </a:xfrm>
          <a:prstGeom prst="rect">
            <a:avLst/>
          </a:prstGeom>
          <a:noFill/>
          <a:ln/>
        </p:spPr>
        <p:txBody>
          <a:bodyPr wrap="square" lIns="0" tIns="0" rIns="0" bIns="0" rtlCol="0" anchor="ctr"/>
          <a:lstStyle/>
          <a:p>
            <a:pPr indent="0" marL="0">
              <a:buNone/>
            </a:pPr>
            <a:r>
              <a:rPr lang="en-US" sz="1400" b="1" dirty="0">
                <a:solidFill>
                  <a:schemeClr val="tx1"/>
                </a:solidFill>
              </a:rPr>
              <a:t>You see the exact digest text before anything is shared.</a:t>
            </a:r>
            <a:endParaRPr lang="en-US" sz="1400" dirty="0"/>
          </a:p>
        </p:txBody>
      </p:sp>
      <p:sp>
        <p:nvSpPr>
          <p:cNvPr id="18" name="card-219"/>
          <p:cNvSpPr/>
          <p:nvPr/>
        </p:nvSpPr>
        <p:spPr>
          <a:xfrm>
            <a:off x="6035040" y="1371600"/>
            <a:ext cx="5577840" cy="4800600"/>
          </a:xfrm>
          <a:prstGeom prst="roundRect">
            <a:avLst>
              <a:gd name="adj" fmla="val 1905"/>
            </a:avLst>
          </a:prstGeom>
          <a:solidFill>
            <a:schemeClr val="accent5"/>
          </a:solidFill>
          <a:ln/>
        </p:spPr>
      </p:sp>
      <p:sp>
        <p:nvSpPr>
          <p:cNvPr id="19" name="text-220"/>
          <p:cNvSpPr txBox="1"/>
          <p:nvPr/>
        </p:nvSpPr>
        <p:spPr>
          <a:xfrm>
            <a:off x="6263640" y="1508760"/>
            <a:ext cx="2743200" cy="347472"/>
          </a:xfrm>
          <a:prstGeom prst="rect">
            <a:avLst/>
          </a:prstGeom>
          <a:noFill/>
          <a:ln/>
        </p:spPr>
        <p:txBody>
          <a:bodyPr wrap="square" lIns="0" tIns="0" rIns="0" bIns="0" rtlCol="0" anchor="ctr"/>
          <a:lstStyle/>
          <a:p>
            <a:pPr indent="0" marL="0">
              <a:buNone/>
            </a:pPr>
            <a:r>
              <a:rPr lang="en-US" sz="1400" dirty="0">
                <a:solidFill>
                  <a:schemeClr val="accent2"/>
                </a:solidFill>
                <a:latin typeface="Courier New" pitchFamily="34" charset="0"/>
                <a:ea typeface="Courier New" pitchFamily="34" charset="-122"/>
                <a:cs typeface="Courier New" pitchFamily="34" charset="-120"/>
              </a:rPr>
              <a:t>&gt; /connect-dots</a:t>
            </a:r>
            <a:endParaRPr lang="en-US" sz="1400" dirty="0"/>
          </a:p>
        </p:txBody>
      </p:sp>
      <p:sp>
        <p:nvSpPr>
          <p:cNvPr id="20" name="chip-221"/>
          <p:cNvSpPr/>
          <p:nvPr/>
        </p:nvSpPr>
        <p:spPr>
          <a:xfrm>
            <a:off x="8915400" y="1517904"/>
            <a:ext cx="2514600" cy="329184"/>
          </a:xfrm>
          <a:prstGeom prst="roundRect">
            <a:avLst>
              <a:gd name="adj" fmla="val 50000"/>
            </a:avLst>
          </a:prstGeom>
          <a:solidFill>
            <a:schemeClr val="accent1"/>
          </a:solidFill>
          <a:ln/>
        </p:spPr>
      </p:sp>
      <p:sp>
        <p:nvSpPr>
          <p:cNvPr id="21" name="text-222"/>
          <p:cNvSpPr txBox="1"/>
          <p:nvPr/>
        </p:nvSpPr>
        <p:spPr>
          <a:xfrm>
            <a:off x="8915400" y="1517904"/>
            <a:ext cx="2514600" cy="329184"/>
          </a:xfrm>
          <a:prstGeom prst="rect">
            <a:avLst/>
          </a:prstGeom>
          <a:noFill/>
          <a:ln/>
        </p:spPr>
        <p:txBody>
          <a:bodyPr wrap="square" lIns="0" tIns="0" rIns="0" bIns="0" rtlCol="0" anchor="ctr"/>
          <a:lstStyle/>
          <a:p>
            <a:pPr algn="ctr" indent="0" marL="0">
              <a:buNone/>
            </a:pPr>
            <a:r>
              <a:rPr lang="en-US" sz="1100" b="1" dirty="0">
                <a:solidFill>
                  <a:schemeClr val="bg1"/>
                </a:solidFill>
              </a:rPr>
              <a:t>Illustrative example · fictional</a:t>
            </a:r>
            <a:endParaRPr lang="en-US" sz="1100" dirty="0"/>
          </a:p>
        </p:txBody>
      </p:sp>
      <p:sp>
        <p:nvSpPr>
          <p:cNvPr id="22" name="text-223"/>
          <p:cNvSpPr txBox="1"/>
          <p:nvPr/>
        </p:nvSpPr>
        <p:spPr>
          <a:xfrm>
            <a:off x="6263640" y="1920240"/>
            <a:ext cx="5166360" cy="502920"/>
          </a:xfrm>
          <a:prstGeom prst="rect">
            <a:avLst/>
          </a:prstGeom>
          <a:noFill/>
          <a:ln/>
        </p:spPr>
        <p:txBody>
          <a:bodyPr wrap="square" lIns="0" tIns="0" rIns="0" bIns="0" rtlCol="0" anchor="t"/>
          <a:lstStyle/>
          <a:p>
            <a:pPr indent="0" marL="0">
              <a:buNone/>
            </a:pPr>
            <a:r>
              <a:rPr lang="en-US" sz="1200" dirty="0">
                <a:solidFill>
                  <a:schemeClr val="accent4"/>
                </a:solidFill>
              </a:rPr>
              <a:t>Reads this week's digests from Ana (Listings Optimizer), Bruno (Pricing Assistant) and Carla (Search Insights).</a:t>
            </a:r>
            <a:endParaRPr lang="en-US" sz="1200" dirty="0"/>
          </a:p>
        </p:txBody>
      </p:sp>
      <p:sp>
        <p:nvSpPr>
          <p:cNvPr id="23" name="finding-224"/>
          <p:cNvSpPr/>
          <p:nvPr/>
        </p:nvSpPr>
        <p:spPr>
          <a:xfrm>
            <a:off x="6263640" y="2560320"/>
            <a:ext cx="5120640" cy="1078992"/>
          </a:xfrm>
          <a:prstGeom prst="roundRect">
            <a:avLst>
              <a:gd name="adj" fmla="val 6780"/>
            </a:avLst>
          </a:prstGeom>
          <a:solidFill>
            <a:srgbClr val="1F2937"/>
          </a:solidFill>
          <a:ln/>
        </p:spPr>
      </p:sp>
      <p:sp>
        <p:nvSpPr>
          <p:cNvPr id="24" name="chip-225"/>
          <p:cNvSpPr/>
          <p:nvPr/>
        </p:nvSpPr>
        <p:spPr>
          <a:xfrm>
            <a:off x="6446520" y="2688336"/>
            <a:ext cx="1143000" cy="292608"/>
          </a:xfrm>
          <a:prstGeom prst="roundRect">
            <a:avLst>
              <a:gd name="adj" fmla="val 50000"/>
            </a:avLst>
          </a:prstGeom>
          <a:solidFill>
            <a:schemeClr val="accent1"/>
          </a:solidFill>
          <a:ln/>
        </p:spPr>
      </p:sp>
      <p:sp>
        <p:nvSpPr>
          <p:cNvPr id="25" name="text-226"/>
          <p:cNvSpPr txBox="1"/>
          <p:nvPr/>
        </p:nvSpPr>
        <p:spPr>
          <a:xfrm>
            <a:off x="6446520" y="2688336"/>
            <a:ext cx="1143000" cy="292608"/>
          </a:xfrm>
          <a:prstGeom prst="rect">
            <a:avLst/>
          </a:prstGeom>
          <a:noFill/>
          <a:ln/>
        </p:spPr>
        <p:txBody>
          <a:bodyPr wrap="square" lIns="0" tIns="0" rIns="0" bIns="0" rtlCol="0" anchor="ctr"/>
          <a:lstStyle/>
          <a:p>
            <a:pPr algn="ctr" indent="0" marL="0">
              <a:buNone/>
            </a:pPr>
            <a:r>
              <a:rPr lang="en-US" sz="1100" b="1" dirty="0">
                <a:solidFill>
                  <a:schemeClr val="bg1"/>
                </a:solidFill>
              </a:rPr>
              <a:t>OVERLAP</a:t>
            </a:r>
            <a:endParaRPr lang="en-US" sz="1100" dirty="0"/>
          </a:p>
        </p:txBody>
      </p:sp>
      <p:sp>
        <p:nvSpPr>
          <p:cNvPr id="26" name="text-227"/>
          <p:cNvSpPr txBox="1"/>
          <p:nvPr/>
        </p:nvSpPr>
        <p:spPr>
          <a:xfrm>
            <a:off x="7726680" y="2688336"/>
            <a:ext cx="1828800" cy="292608"/>
          </a:xfrm>
          <a:prstGeom prst="rect">
            <a:avLst/>
          </a:prstGeom>
          <a:noFill/>
          <a:ln/>
        </p:spPr>
        <p:txBody>
          <a:bodyPr wrap="square" lIns="0" tIns="0" rIns="0" bIns="0" rtlCol="0" anchor="ctr"/>
          <a:lstStyle/>
          <a:p>
            <a:pPr indent="0" marL="0">
              <a:buNone/>
            </a:pPr>
            <a:r>
              <a:rPr lang="en-US" sz="1200" i="1" dirty="0">
                <a:solidFill>
                  <a:schemeClr val="accent4"/>
                </a:solidFill>
              </a:rPr>
              <a:t>high confidence</a:t>
            </a:r>
            <a:endParaRPr lang="en-US" sz="1200" dirty="0"/>
          </a:p>
        </p:txBody>
      </p:sp>
      <p:sp>
        <p:nvSpPr>
          <p:cNvPr id="27" name="text-228"/>
          <p:cNvSpPr txBox="1"/>
          <p:nvPr/>
        </p:nvSpPr>
        <p:spPr>
          <a:xfrm>
            <a:off x="6446520" y="3017520"/>
            <a:ext cx="4800600" cy="365760"/>
          </a:xfrm>
          <a:prstGeom prst="rect">
            <a:avLst/>
          </a:prstGeom>
          <a:noFill/>
          <a:ln/>
        </p:spPr>
        <p:txBody>
          <a:bodyPr wrap="square" lIns="0" tIns="0" rIns="0" bIns="0" rtlCol="0" anchor="ctr"/>
          <a:lstStyle/>
          <a:p>
            <a:pPr indent="0" marL="0">
              <a:buNone/>
            </a:pPr>
            <a:r>
              <a:rPr lang="en-US" sz="1300" dirty="0">
                <a:solidFill>
                  <a:schemeClr val="bg1"/>
                </a:solidFill>
              </a:rPr>
              <a:t>Ana and Carla are both building an LLM-based quality scorer.</a:t>
            </a:r>
            <a:endParaRPr lang="en-US" sz="1300" dirty="0"/>
          </a:p>
        </p:txBody>
      </p:sp>
      <p:sp>
        <p:nvSpPr>
          <p:cNvPr id="28" name="text-229"/>
          <p:cNvSpPr txBox="1"/>
          <p:nvPr/>
        </p:nvSpPr>
        <p:spPr>
          <a:xfrm>
            <a:off x="6446520" y="3337560"/>
            <a:ext cx="4800600" cy="256032"/>
          </a:xfrm>
          <a:prstGeom prst="rect">
            <a:avLst/>
          </a:prstGeom>
          <a:noFill/>
          <a:ln/>
        </p:spPr>
        <p:txBody>
          <a:bodyPr wrap="square" lIns="0" tIns="0" rIns="0" bIns="0" rtlCol="0" anchor="ctr"/>
          <a:lstStyle/>
          <a:p>
            <a:pPr indent="0" marL="0">
              <a:buNone/>
            </a:pPr>
            <a:r>
              <a:rPr lang="en-US" sz="1200" b="1" dirty="0">
                <a:solidFill>
                  <a:srgbClr val="FDBA74"/>
                </a:solidFill>
              </a:rPr>
              <a:t>Next: a 30-min sync</a:t>
            </a:r>
            <a:endParaRPr lang="en-US" sz="1200" dirty="0"/>
          </a:p>
        </p:txBody>
      </p:sp>
      <p:sp>
        <p:nvSpPr>
          <p:cNvPr id="29" name="finding-230"/>
          <p:cNvSpPr/>
          <p:nvPr/>
        </p:nvSpPr>
        <p:spPr>
          <a:xfrm>
            <a:off x="6263640" y="3749040"/>
            <a:ext cx="5120640" cy="1078992"/>
          </a:xfrm>
          <a:prstGeom prst="roundRect">
            <a:avLst>
              <a:gd name="adj" fmla="val 6780"/>
            </a:avLst>
          </a:prstGeom>
          <a:solidFill>
            <a:srgbClr val="1F2937"/>
          </a:solidFill>
          <a:ln/>
        </p:spPr>
      </p:sp>
      <p:sp>
        <p:nvSpPr>
          <p:cNvPr id="30" name="chip-231"/>
          <p:cNvSpPr/>
          <p:nvPr/>
        </p:nvSpPr>
        <p:spPr>
          <a:xfrm>
            <a:off x="6446520" y="3877056"/>
            <a:ext cx="1143000" cy="292608"/>
          </a:xfrm>
          <a:prstGeom prst="roundRect">
            <a:avLst>
              <a:gd name="adj" fmla="val 50000"/>
            </a:avLst>
          </a:prstGeom>
          <a:solidFill>
            <a:schemeClr val="accent1"/>
          </a:solidFill>
          <a:ln/>
        </p:spPr>
      </p:sp>
      <p:sp>
        <p:nvSpPr>
          <p:cNvPr id="31" name="text-232"/>
          <p:cNvSpPr txBox="1"/>
          <p:nvPr/>
        </p:nvSpPr>
        <p:spPr>
          <a:xfrm>
            <a:off x="6446520" y="3877056"/>
            <a:ext cx="1143000" cy="292608"/>
          </a:xfrm>
          <a:prstGeom prst="rect">
            <a:avLst/>
          </a:prstGeom>
          <a:noFill/>
          <a:ln/>
        </p:spPr>
        <p:txBody>
          <a:bodyPr wrap="square" lIns="0" tIns="0" rIns="0" bIns="0" rtlCol="0" anchor="ctr"/>
          <a:lstStyle/>
          <a:p>
            <a:pPr algn="ctr" indent="0" marL="0">
              <a:buNone/>
            </a:pPr>
            <a:r>
              <a:rPr lang="en-US" sz="1100" b="1" dirty="0">
                <a:solidFill>
                  <a:schemeClr val="bg1"/>
                </a:solidFill>
              </a:rPr>
              <a:t>REUSE</a:t>
            </a:r>
            <a:endParaRPr lang="en-US" sz="1100" dirty="0"/>
          </a:p>
        </p:txBody>
      </p:sp>
      <p:sp>
        <p:nvSpPr>
          <p:cNvPr id="32" name="text-233"/>
          <p:cNvSpPr txBox="1"/>
          <p:nvPr/>
        </p:nvSpPr>
        <p:spPr>
          <a:xfrm>
            <a:off x="6446520" y="4206240"/>
            <a:ext cx="4800600" cy="365760"/>
          </a:xfrm>
          <a:prstGeom prst="rect">
            <a:avLst/>
          </a:prstGeom>
          <a:noFill/>
          <a:ln/>
        </p:spPr>
        <p:txBody>
          <a:bodyPr wrap="square" lIns="0" tIns="0" rIns="0" bIns="0" rtlCol="0" anchor="ctr"/>
          <a:lstStyle/>
          <a:p>
            <a:pPr indent="0" marL="0">
              <a:buNone/>
            </a:pPr>
            <a:r>
              <a:rPr lang="en-US" sz="1300" dirty="0">
                <a:solidFill>
                  <a:schemeClr val="bg1"/>
                </a:solidFill>
              </a:rPr>
              <a:t>Bruno's prompt library matches an open need in Ana's digest.</a:t>
            </a:r>
            <a:endParaRPr lang="en-US" sz="1300" dirty="0"/>
          </a:p>
        </p:txBody>
      </p:sp>
      <p:sp>
        <p:nvSpPr>
          <p:cNvPr id="33" name="text-234"/>
          <p:cNvSpPr txBox="1"/>
          <p:nvPr/>
        </p:nvSpPr>
        <p:spPr>
          <a:xfrm>
            <a:off x="6446520" y="4526280"/>
            <a:ext cx="4800600" cy="256032"/>
          </a:xfrm>
          <a:prstGeom prst="rect">
            <a:avLst/>
          </a:prstGeom>
          <a:noFill/>
          <a:ln/>
        </p:spPr>
        <p:txBody>
          <a:bodyPr wrap="square" lIns="0" tIns="0" rIns="0" bIns="0" rtlCol="0" anchor="ctr"/>
          <a:lstStyle/>
          <a:p>
            <a:pPr indent="0" marL="0">
              <a:buNone/>
            </a:pPr>
            <a:r>
              <a:rPr lang="en-US" sz="1200" b="1" dirty="0">
                <a:solidFill>
                  <a:srgbClr val="FDBA74"/>
                </a:solidFill>
              </a:rPr>
              <a:t>Next: introduce Bruno and Ana</a:t>
            </a:r>
            <a:endParaRPr lang="en-US" sz="1200" dirty="0"/>
          </a:p>
        </p:txBody>
      </p:sp>
      <p:sp>
        <p:nvSpPr>
          <p:cNvPr id="34" name="finding-235"/>
          <p:cNvSpPr/>
          <p:nvPr/>
        </p:nvSpPr>
        <p:spPr>
          <a:xfrm>
            <a:off x="6263640" y="4937760"/>
            <a:ext cx="5120640" cy="1078992"/>
          </a:xfrm>
          <a:prstGeom prst="roundRect">
            <a:avLst>
              <a:gd name="adj" fmla="val 6780"/>
            </a:avLst>
          </a:prstGeom>
          <a:solidFill>
            <a:srgbClr val="1F2937"/>
          </a:solidFill>
          <a:ln/>
        </p:spPr>
      </p:sp>
      <p:sp>
        <p:nvSpPr>
          <p:cNvPr id="35" name="chip-236"/>
          <p:cNvSpPr/>
          <p:nvPr/>
        </p:nvSpPr>
        <p:spPr>
          <a:xfrm>
            <a:off x="6446520" y="5065776"/>
            <a:ext cx="1143000" cy="292608"/>
          </a:xfrm>
          <a:prstGeom prst="roundRect">
            <a:avLst>
              <a:gd name="adj" fmla="val 50000"/>
            </a:avLst>
          </a:prstGeom>
          <a:solidFill>
            <a:schemeClr val="accent1"/>
          </a:solidFill>
          <a:ln/>
        </p:spPr>
      </p:sp>
      <p:sp>
        <p:nvSpPr>
          <p:cNvPr id="36" name="text-237"/>
          <p:cNvSpPr txBox="1"/>
          <p:nvPr/>
        </p:nvSpPr>
        <p:spPr>
          <a:xfrm>
            <a:off x="6446520" y="5065776"/>
            <a:ext cx="1143000" cy="292608"/>
          </a:xfrm>
          <a:prstGeom prst="rect">
            <a:avLst/>
          </a:prstGeom>
          <a:noFill/>
          <a:ln/>
        </p:spPr>
        <p:txBody>
          <a:bodyPr wrap="square" lIns="0" tIns="0" rIns="0" bIns="0" rtlCol="0" anchor="ctr"/>
          <a:lstStyle/>
          <a:p>
            <a:pPr algn="ctr" indent="0" marL="0">
              <a:buNone/>
            </a:pPr>
            <a:r>
              <a:rPr lang="en-US" sz="1100" b="1" dirty="0">
                <a:solidFill>
                  <a:schemeClr val="bg1"/>
                </a:solidFill>
              </a:rPr>
              <a:t>COMBINE</a:t>
            </a:r>
            <a:endParaRPr lang="en-US" sz="1100" dirty="0"/>
          </a:p>
        </p:txBody>
      </p:sp>
      <p:sp>
        <p:nvSpPr>
          <p:cNvPr id="37" name="text-238"/>
          <p:cNvSpPr txBox="1"/>
          <p:nvPr/>
        </p:nvSpPr>
        <p:spPr>
          <a:xfrm>
            <a:off x="7726680" y="5065776"/>
            <a:ext cx="1828800" cy="292608"/>
          </a:xfrm>
          <a:prstGeom prst="rect">
            <a:avLst/>
          </a:prstGeom>
          <a:noFill/>
          <a:ln/>
        </p:spPr>
        <p:txBody>
          <a:bodyPr wrap="square" lIns="0" tIns="0" rIns="0" bIns="0" rtlCol="0" anchor="ctr"/>
          <a:lstStyle/>
          <a:p>
            <a:pPr indent="0" marL="0">
              <a:buNone/>
            </a:pPr>
            <a:r>
              <a:rPr lang="en-US" sz="1200" i="1" dirty="0">
                <a:solidFill>
                  <a:schemeClr val="accent4"/>
                </a:solidFill>
              </a:rPr>
              <a:t>hypothesis</a:t>
            </a:r>
            <a:endParaRPr lang="en-US" sz="1200" dirty="0"/>
          </a:p>
        </p:txBody>
      </p:sp>
      <p:sp>
        <p:nvSpPr>
          <p:cNvPr id="38" name="text-239"/>
          <p:cNvSpPr txBox="1"/>
          <p:nvPr/>
        </p:nvSpPr>
        <p:spPr>
          <a:xfrm>
            <a:off x="6446520" y="5394960"/>
            <a:ext cx="4800600" cy="365760"/>
          </a:xfrm>
          <a:prstGeom prst="rect">
            <a:avLst/>
          </a:prstGeom>
          <a:noFill/>
          <a:ln/>
        </p:spPr>
        <p:txBody>
          <a:bodyPr wrap="square" lIns="0" tIns="0" rIns="0" bIns="0" rtlCol="0" anchor="ctr"/>
          <a:lstStyle/>
          <a:p>
            <a:pPr indent="0" marL="0">
              <a:buNone/>
            </a:pPr>
            <a:r>
              <a:rPr lang="en-US" sz="1300" dirty="0">
                <a:solidFill>
                  <a:schemeClr val="bg1"/>
                </a:solidFill>
              </a:rPr>
              <a:t>Carla's search signals + Ana's scorer → ranking-aware listings.</a:t>
            </a:r>
            <a:endParaRPr lang="en-US" sz="1300" dirty="0"/>
          </a:p>
        </p:txBody>
      </p:sp>
      <p:sp>
        <p:nvSpPr>
          <p:cNvPr id="39" name="text-240"/>
          <p:cNvSpPr txBox="1"/>
          <p:nvPr/>
        </p:nvSpPr>
        <p:spPr>
          <a:xfrm>
            <a:off x="6446520" y="5715000"/>
            <a:ext cx="4800600" cy="256032"/>
          </a:xfrm>
          <a:prstGeom prst="rect">
            <a:avLst/>
          </a:prstGeom>
          <a:noFill/>
          <a:ln/>
        </p:spPr>
        <p:txBody>
          <a:bodyPr wrap="square" lIns="0" tIns="0" rIns="0" bIns="0" rtlCol="0" anchor="ctr"/>
          <a:lstStyle/>
          <a:p>
            <a:pPr indent="0" marL="0">
              <a:buNone/>
            </a:pPr>
            <a:r>
              <a:rPr lang="en-US" sz="1200" b="1" dirty="0">
                <a:solidFill>
                  <a:srgbClr val="FDBA74"/>
                </a:solidFill>
              </a:rPr>
              <a:t>Next: explore together</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600" b="1" dirty="0">
                <a:solidFill>
                  <a:schemeClr val="tx1"/>
                </a:solidFill>
              </a:rPr>
              <a:t>Roadmap: fast, with a gate every month</a:t>
            </a:r>
            <a:endParaRPr lang="en-US" sz="3600" dirty="0"/>
          </a:p>
        </p:txBody>
      </p:sp>
      <p:sp>
        <p:nvSpPr>
          <p:cNvPr id="3" name="timeline-241"/>
          <p:cNvSpPr/>
          <p:nvPr/>
        </p:nvSpPr>
        <p:spPr>
          <a:xfrm>
            <a:off x="1097280" y="1691640"/>
            <a:ext cx="9966960" cy="0"/>
          </a:xfrm>
          <a:prstGeom prst="line">
            <a:avLst/>
          </a:prstGeom>
          <a:noFill/>
          <a:ln w="38100">
            <a:solidFill>
              <a:schemeClr val="accent2"/>
            </a:solidFill>
            <a:prstDash val="solid"/>
          </a:ln>
        </p:spPr>
      </p:sp>
      <p:sp>
        <p:nvSpPr>
          <p:cNvPr id="4" name="dot-242"/>
          <p:cNvSpPr/>
          <p:nvPr/>
        </p:nvSpPr>
        <p:spPr>
          <a:xfrm>
            <a:off x="1691640" y="1508760"/>
            <a:ext cx="365760" cy="365760"/>
          </a:xfrm>
          <a:prstGeom prst="ellipse">
            <a:avLst/>
          </a:prstGeom>
          <a:solidFill>
            <a:schemeClr val="accent1"/>
          </a:solidFill>
          <a:ln w="25400">
            <a:solidFill>
              <a:schemeClr val="accent1"/>
            </a:solidFill>
            <a:prstDash val="solid"/>
          </a:ln>
        </p:spPr>
      </p:sp>
      <p:sp>
        <p:nvSpPr>
          <p:cNvPr id="5" name="card-243"/>
          <p:cNvSpPr/>
          <p:nvPr/>
        </p:nvSpPr>
        <p:spPr>
          <a:xfrm>
            <a:off x="548640" y="2103120"/>
            <a:ext cx="2651760" cy="2331720"/>
          </a:xfrm>
          <a:prstGeom prst="roundRect">
            <a:avLst>
              <a:gd name="adj" fmla="val 4706"/>
            </a:avLst>
          </a:prstGeom>
          <a:solidFill>
            <a:schemeClr val="accent3"/>
          </a:solidFill>
          <a:ln/>
        </p:spPr>
      </p:sp>
      <p:sp>
        <p:nvSpPr>
          <p:cNvPr id="6" name="text-244"/>
          <p:cNvSpPr txBox="1"/>
          <p:nvPr/>
        </p:nvSpPr>
        <p:spPr>
          <a:xfrm>
            <a:off x="777240" y="2286000"/>
            <a:ext cx="21945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LATE OCT</a:t>
            </a:r>
            <a:endParaRPr lang="en-US" sz="1200" dirty="0"/>
          </a:p>
        </p:txBody>
      </p:sp>
      <p:sp>
        <p:nvSpPr>
          <p:cNvPr id="7" name="text-245"/>
          <p:cNvSpPr txBox="1"/>
          <p:nvPr/>
        </p:nvSpPr>
        <p:spPr>
          <a:xfrm>
            <a:off x="777240" y="2606040"/>
            <a:ext cx="2194560" cy="411480"/>
          </a:xfrm>
          <a:prstGeom prst="rect">
            <a:avLst/>
          </a:prstGeom>
          <a:noFill/>
          <a:ln/>
        </p:spPr>
        <p:txBody>
          <a:bodyPr wrap="square" lIns="0" tIns="0" rIns="0" bIns="0" rtlCol="0" anchor="t"/>
          <a:lstStyle/>
          <a:p>
            <a:pPr indent="0" marL="0">
              <a:buNone/>
            </a:pPr>
            <a:r>
              <a:rPr lang="en-US" sz="1800" b="1" dirty="0">
                <a:solidFill>
                  <a:schemeClr val="tx1"/>
                </a:solidFill>
              </a:rPr>
              <a:t>Set up</a:t>
            </a:r>
            <a:endParaRPr lang="en-US" sz="1800" dirty="0"/>
          </a:p>
        </p:txBody>
      </p:sp>
      <p:sp>
        <p:nvSpPr>
          <p:cNvPr id="8" name="text-246"/>
          <p:cNvSpPr txBox="1"/>
          <p:nvPr/>
        </p:nvSpPr>
        <p:spPr>
          <a:xfrm>
            <a:off x="777240" y="3063240"/>
            <a:ext cx="2194560" cy="731520"/>
          </a:xfrm>
          <a:prstGeom prst="rect">
            <a:avLst/>
          </a:prstGeom>
          <a:noFill/>
          <a:ln/>
        </p:spPr>
        <p:txBody>
          <a:bodyPr wrap="square" lIns="0" tIns="0" rIns="0" bIns="0" rtlCol="0" anchor="t"/>
          <a:lstStyle/>
          <a:p>
            <a:pPr indent="0" marL="0">
              <a:buNone/>
            </a:pPr>
            <a:r>
              <a:rPr lang="en-US" sz="1400" dirty="0">
                <a:solidFill>
                  <a:schemeClr val="tx2"/>
                </a:solidFill>
              </a:rPr>
              <a:t>Devin CLI plus the Jira, Confluence and GitLab connections.</a:t>
            </a:r>
            <a:endParaRPr lang="en-US" sz="1400" dirty="0"/>
          </a:p>
        </p:txBody>
      </p:sp>
      <p:sp>
        <p:nvSpPr>
          <p:cNvPr id="9" name="text-247"/>
          <p:cNvSpPr txBox="1"/>
          <p:nvPr/>
        </p:nvSpPr>
        <p:spPr>
          <a:xfrm>
            <a:off x="777240" y="3886200"/>
            <a:ext cx="2194560" cy="365760"/>
          </a:xfrm>
          <a:prstGeom prst="rect">
            <a:avLst/>
          </a:prstGeom>
          <a:noFill/>
          <a:ln/>
        </p:spPr>
        <p:txBody>
          <a:bodyPr wrap="square" lIns="0" tIns="0" rIns="0" bIns="0" rtlCol="0" anchor="ctr"/>
          <a:lstStyle/>
          <a:p>
            <a:pPr indent="0" marL="0">
              <a:buNone/>
            </a:pPr>
            <a:r>
              <a:rPr lang="en-US" sz="1300" b="1" i="1" dirty="0">
                <a:solidFill>
                  <a:schemeClr val="accent1"/>
                </a:solidFill>
              </a:rPr>
              <a:t>We are here</a:t>
            </a:r>
            <a:endParaRPr lang="en-US" sz="1300" dirty="0"/>
          </a:p>
        </p:txBody>
      </p:sp>
      <p:sp>
        <p:nvSpPr>
          <p:cNvPr id="10" name="dot-248"/>
          <p:cNvSpPr/>
          <p:nvPr/>
        </p:nvSpPr>
        <p:spPr>
          <a:xfrm>
            <a:off x="4496105" y="1508760"/>
            <a:ext cx="365760" cy="365760"/>
          </a:xfrm>
          <a:prstGeom prst="ellipse">
            <a:avLst/>
          </a:prstGeom>
          <a:solidFill>
            <a:schemeClr val="bg1"/>
          </a:solidFill>
          <a:ln w="25400">
            <a:solidFill>
              <a:schemeClr val="tx1"/>
            </a:solidFill>
            <a:prstDash val="solid"/>
          </a:ln>
        </p:spPr>
      </p:sp>
      <p:sp>
        <p:nvSpPr>
          <p:cNvPr id="11" name="card-249"/>
          <p:cNvSpPr/>
          <p:nvPr/>
        </p:nvSpPr>
        <p:spPr>
          <a:xfrm>
            <a:off x="3353105" y="2103120"/>
            <a:ext cx="2651760" cy="2331720"/>
          </a:xfrm>
          <a:prstGeom prst="roundRect">
            <a:avLst>
              <a:gd name="adj" fmla="val 4706"/>
            </a:avLst>
          </a:prstGeom>
          <a:solidFill>
            <a:schemeClr val="bg2"/>
          </a:solidFill>
          <a:ln/>
        </p:spPr>
      </p:sp>
      <p:sp>
        <p:nvSpPr>
          <p:cNvPr id="12" name="text-250"/>
          <p:cNvSpPr txBox="1"/>
          <p:nvPr/>
        </p:nvSpPr>
        <p:spPr>
          <a:xfrm>
            <a:off x="3581705" y="2286000"/>
            <a:ext cx="21945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NOVEMBER</a:t>
            </a:r>
            <a:endParaRPr lang="en-US" sz="1200" dirty="0"/>
          </a:p>
        </p:txBody>
      </p:sp>
      <p:sp>
        <p:nvSpPr>
          <p:cNvPr id="13" name="text-251"/>
          <p:cNvSpPr txBox="1"/>
          <p:nvPr/>
        </p:nvSpPr>
        <p:spPr>
          <a:xfrm>
            <a:off x="3581705" y="2606040"/>
            <a:ext cx="2194560" cy="411480"/>
          </a:xfrm>
          <a:prstGeom prst="rect">
            <a:avLst/>
          </a:prstGeom>
          <a:noFill/>
          <a:ln/>
        </p:spPr>
        <p:txBody>
          <a:bodyPr wrap="square" lIns="0" tIns="0" rIns="0" bIns="0" rtlCol="0" anchor="t"/>
          <a:lstStyle/>
          <a:p>
            <a:pPr indent="0" marL="0">
              <a:buNone/>
            </a:pPr>
            <a:r>
              <a:rPr lang="en-US" sz="1800" b="1" dirty="0">
                <a:solidFill>
                  <a:schemeClr val="tx1"/>
                </a:solidFill>
              </a:rPr>
              <a:t>Pilot on my product</a:t>
            </a:r>
            <a:endParaRPr lang="en-US" sz="1800" dirty="0"/>
          </a:p>
        </p:txBody>
      </p:sp>
      <p:sp>
        <p:nvSpPr>
          <p:cNvPr id="14" name="text-252"/>
          <p:cNvSpPr txBox="1"/>
          <p:nvPr/>
        </p:nvSpPr>
        <p:spPr>
          <a:xfrm>
            <a:off x="3581705" y="3063240"/>
            <a:ext cx="2194560" cy="731520"/>
          </a:xfrm>
          <a:prstGeom prst="rect">
            <a:avLst/>
          </a:prstGeom>
          <a:noFill/>
          <a:ln/>
        </p:spPr>
        <p:txBody>
          <a:bodyPr wrap="square" lIns="0" tIns="0" rIns="0" bIns="0" rtlCol="0" anchor="t"/>
          <a:lstStyle/>
          <a:p>
            <a:pPr indent="0" marL="0">
              <a:buNone/>
            </a:pPr>
            <a:r>
              <a:rPr lang="en-US" sz="1400" dirty="0">
                <a:solidFill>
                  <a:schemeClr val="tx2"/>
                </a:solidFill>
              </a:rPr>
              <a:t>Daily real use on my own product and meetings.</a:t>
            </a:r>
            <a:endParaRPr lang="en-US" sz="1400" dirty="0"/>
          </a:p>
        </p:txBody>
      </p:sp>
      <p:sp>
        <p:nvSpPr>
          <p:cNvPr id="15" name="gate-253"/>
          <p:cNvSpPr/>
          <p:nvPr/>
        </p:nvSpPr>
        <p:spPr>
          <a:xfrm>
            <a:off x="3581705" y="3931920"/>
            <a:ext cx="274320" cy="274320"/>
          </a:xfrm>
          <a:prstGeom prst="diamond">
            <a:avLst/>
          </a:prstGeom>
          <a:solidFill>
            <a:schemeClr val="tx1"/>
          </a:solidFill>
          <a:ln/>
        </p:spPr>
      </p:sp>
      <p:sp>
        <p:nvSpPr>
          <p:cNvPr id="16" name="text-254"/>
          <p:cNvSpPr txBox="1"/>
          <p:nvPr/>
        </p:nvSpPr>
        <p:spPr>
          <a:xfrm>
            <a:off x="3947465" y="3886200"/>
            <a:ext cx="1828800" cy="365760"/>
          </a:xfrm>
          <a:prstGeom prst="rect">
            <a:avLst/>
          </a:prstGeom>
          <a:noFill/>
          <a:ln/>
        </p:spPr>
        <p:txBody>
          <a:bodyPr wrap="square" lIns="0" tIns="0" rIns="0" bIns="0" rtlCol="0" anchor="ctr"/>
          <a:lstStyle/>
          <a:p>
            <a:pPr indent="0" marL="0">
              <a:buNone/>
            </a:pPr>
            <a:r>
              <a:rPr lang="en-US" sz="1300" b="1" dirty="0">
                <a:solidFill>
                  <a:schemeClr val="tx1"/>
                </a:solidFill>
              </a:rPr>
              <a:t>Gate · end Nov</a:t>
            </a:r>
            <a:endParaRPr lang="en-US" sz="1300" dirty="0"/>
          </a:p>
        </p:txBody>
      </p:sp>
      <p:sp>
        <p:nvSpPr>
          <p:cNvPr id="17" name="dot-255"/>
          <p:cNvSpPr/>
          <p:nvPr/>
        </p:nvSpPr>
        <p:spPr>
          <a:xfrm>
            <a:off x="7300570" y="1508760"/>
            <a:ext cx="365760" cy="365760"/>
          </a:xfrm>
          <a:prstGeom prst="ellipse">
            <a:avLst/>
          </a:prstGeom>
          <a:solidFill>
            <a:schemeClr val="bg1"/>
          </a:solidFill>
          <a:ln w="25400">
            <a:solidFill>
              <a:schemeClr val="tx1"/>
            </a:solidFill>
            <a:prstDash val="solid"/>
          </a:ln>
        </p:spPr>
      </p:sp>
      <p:sp>
        <p:nvSpPr>
          <p:cNvPr id="18" name="card-256"/>
          <p:cNvSpPr/>
          <p:nvPr/>
        </p:nvSpPr>
        <p:spPr>
          <a:xfrm>
            <a:off x="6157570" y="2103120"/>
            <a:ext cx="2651760" cy="2331720"/>
          </a:xfrm>
          <a:prstGeom prst="roundRect">
            <a:avLst>
              <a:gd name="adj" fmla="val 4706"/>
            </a:avLst>
          </a:prstGeom>
          <a:solidFill>
            <a:schemeClr val="bg2"/>
          </a:solidFill>
          <a:ln/>
        </p:spPr>
      </p:sp>
      <p:sp>
        <p:nvSpPr>
          <p:cNvPr id="19" name="text-257"/>
          <p:cNvSpPr txBox="1"/>
          <p:nvPr/>
        </p:nvSpPr>
        <p:spPr>
          <a:xfrm>
            <a:off x="6386170" y="2286000"/>
            <a:ext cx="21945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DECEMBER</a:t>
            </a:r>
            <a:endParaRPr lang="en-US" sz="1200" dirty="0"/>
          </a:p>
        </p:txBody>
      </p:sp>
      <p:sp>
        <p:nvSpPr>
          <p:cNvPr id="20" name="text-258"/>
          <p:cNvSpPr txBox="1"/>
          <p:nvPr/>
        </p:nvSpPr>
        <p:spPr>
          <a:xfrm>
            <a:off x="6386170" y="2606040"/>
            <a:ext cx="2194560" cy="411480"/>
          </a:xfrm>
          <a:prstGeom prst="rect">
            <a:avLst/>
          </a:prstGeom>
          <a:noFill/>
          <a:ln/>
        </p:spPr>
        <p:txBody>
          <a:bodyPr wrap="square" lIns="0" tIns="0" rIns="0" bIns="0" rtlCol="0" anchor="t"/>
          <a:lstStyle/>
          <a:p>
            <a:pPr indent="0" marL="0">
              <a:buNone/>
            </a:pPr>
            <a:r>
              <a:rPr lang="en-US" sz="1800" b="1" dirty="0">
                <a:solidFill>
                  <a:schemeClr val="tx1"/>
                </a:solidFill>
              </a:rPr>
              <a:t>Share with PMs</a:t>
            </a:r>
            <a:endParaRPr lang="en-US" sz="1800" dirty="0"/>
          </a:p>
        </p:txBody>
      </p:sp>
      <p:sp>
        <p:nvSpPr>
          <p:cNvPr id="21" name="text-259"/>
          <p:cNvSpPr txBox="1"/>
          <p:nvPr/>
        </p:nvSpPr>
        <p:spPr>
          <a:xfrm>
            <a:off x="6386170" y="3063240"/>
            <a:ext cx="2194560" cy="731520"/>
          </a:xfrm>
          <a:prstGeom prst="rect">
            <a:avLst/>
          </a:prstGeom>
          <a:noFill/>
          <a:ln/>
        </p:spPr>
        <p:txBody>
          <a:bodyPr wrap="square" lIns="0" tIns="0" rIns="0" bIns="0" rtlCol="0" anchor="t"/>
          <a:lstStyle/>
          <a:p>
            <a:pPr indent="0" marL="0">
              <a:buNone/>
            </a:pPr>
            <a:r>
              <a:rPr lang="en-US" sz="1400" dirty="0">
                <a:solidFill>
                  <a:schemeClr val="tx2"/>
                </a:solidFill>
              </a:rPr>
              <a:t>First PMs onboard; the team hub goes live.</a:t>
            </a:r>
            <a:endParaRPr lang="en-US" sz="1400" dirty="0"/>
          </a:p>
        </p:txBody>
      </p:sp>
      <p:sp>
        <p:nvSpPr>
          <p:cNvPr id="22" name="gate-260"/>
          <p:cNvSpPr/>
          <p:nvPr/>
        </p:nvSpPr>
        <p:spPr>
          <a:xfrm>
            <a:off x="6386170" y="3931920"/>
            <a:ext cx="274320" cy="274320"/>
          </a:xfrm>
          <a:prstGeom prst="diamond">
            <a:avLst/>
          </a:prstGeom>
          <a:solidFill>
            <a:schemeClr val="tx1"/>
          </a:solidFill>
          <a:ln/>
        </p:spPr>
      </p:sp>
      <p:sp>
        <p:nvSpPr>
          <p:cNvPr id="23" name="text-261"/>
          <p:cNvSpPr txBox="1"/>
          <p:nvPr/>
        </p:nvSpPr>
        <p:spPr>
          <a:xfrm>
            <a:off x="6751930" y="3886200"/>
            <a:ext cx="1828800" cy="365760"/>
          </a:xfrm>
          <a:prstGeom prst="rect">
            <a:avLst/>
          </a:prstGeom>
          <a:noFill/>
          <a:ln/>
        </p:spPr>
        <p:txBody>
          <a:bodyPr wrap="square" lIns="0" tIns="0" rIns="0" bIns="0" rtlCol="0" anchor="ctr"/>
          <a:lstStyle/>
          <a:p>
            <a:pPr indent="0" marL="0">
              <a:buNone/>
            </a:pPr>
            <a:r>
              <a:rPr lang="en-US" sz="1300" b="1" dirty="0">
                <a:solidFill>
                  <a:schemeClr val="tx1"/>
                </a:solidFill>
              </a:rPr>
              <a:t>Gate · end Dec</a:t>
            </a:r>
            <a:endParaRPr lang="en-US" sz="1300" dirty="0"/>
          </a:p>
        </p:txBody>
      </p:sp>
      <p:sp>
        <p:nvSpPr>
          <p:cNvPr id="24" name="dot-262"/>
          <p:cNvSpPr/>
          <p:nvPr/>
        </p:nvSpPr>
        <p:spPr>
          <a:xfrm>
            <a:off x="10105034" y="1508760"/>
            <a:ext cx="365760" cy="365760"/>
          </a:xfrm>
          <a:prstGeom prst="ellipse">
            <a:avLst/>
          </a:prstGeom>
          <a:solidFill>
            <a:schemeClr val="bg1"/>
          </a:solidFill>
          <a:ln w="25400">
            <a:solidFill>
              <a:schemeClr val="tx1"/>
            </a:solidFill>
            <a:prstDash val="solid"/>
          </a:ln>
        </p:spPr>
      </p:sp>
      <p:sp>
        <p:nvSpPr>
          <p:cNvPr id="25" name="card-263"/>
          <p:cNvSpPr/>
          <p:nvPr/>
        </p:nvSpPr>
        <p:spPr>
          <a:xfrm>
            <a:off x="8962034" y="2103120"/>
            <a:ext cx="2651760" cy="2331720"/>
          </a:xfrm>
          <a:prstGeom prst="roundRect">
            <a:avLst>
              <a:gd name="adj" fmla="val 4706"/>
            </a:avLst>
          </a:prstGeom>
          <a:solidFill>
            <a:schemeClr val="bg2"/>
          </a:solidFill>
          <a:ln/>
        </p:spPr>
      </p:sp>
      <p:sp>
        <p:nvSpPr>
          <p:cNvPr id="26" name="text-264"/>
          <p:cNvSpPr txBox="1"/>
          <p:nvPr/>
        </p:nvSpPr>
        <p:spPr>
          <a:xfrm>
            <a:off x="9190634" y="2286000"/>
            <a:ext cx="21945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JANUARY</a:t>
            </a:r>
            <a:endParaRPr lang="en-US" sz="1200" dirty="0"/>
          </a:p>
        </p:txBody>
      </p:sp>
      <p:sp>
        <p:nvSpPr>
          <p:cNvPr id="27" name="text-265"/>
          <p:cNvSpPr txBox="1"/>
          <p:nvPr/>
        </p:nvSpPr>
        <p:spPr>
          <a:xfrm>
            <a:off x="9190634" y="2606040"/>
            <a:ext cx="2194560" cy="411480"/>
          </a:xfrm>
          <a:prstGeom prst="rect">
            <a:avLst/>
          </a:prstGeom>
          <a:noFill/>
          <a:ln/>
        </p:spPr>
        <p:txBody>
          <a:bodyPr wrap="square" lIns="0" tIns="0" rIns="0" bIns="0" rtlCol="0" anchor="t"/>
          <a:lstStyle/>
          <a:p>
            <a:pPr indent="0" marL="0">
              <a:buNone/>
            </a:pPr>
            <a:r>
              <a:rPr lang="en-US" sz="1800" b="1" dirty="0">
                <a:solidFill>
                  <a:schemeClr val="tx1"/>
                </a:solidFill>
              </a:rPr>
              <a:t>Open the marketplace</a:t>
            </a:r>
            <a:endParaRPr lang="en-US" sz="1800" dirty="0"/>
          </a:p>
        </p:txBody>
      </p:sp>
      <p:sp>
        <p:nvSpPr>
          <p:cNvPr id="28" name="text-266"/>
          <p:cNvSpPr txBox="1"/>
          <p:nvPr/>
        </p:nvSpPr>
        <p:spPr>
          <a:xfrm>
            <a:off x="9190634" y="3063240"/>
            <a:ext cx="2194560" cy="731520"/>
          </a:xfrm>
          <a:prstGeom prst="rect">
            <a:avLst/>
          </a:prstGeom>
          <a:noFill/>
          <a:ln/>
        </p:spPr>
        <p:txBody>
          <a:bodyPr wrap="square" lIns="0" tIns="0" rIns="0" bIns="0" rtlCol="0" anchor="t"/>
          <a:lstStyle/>
          <a:p>
            <a:pPr indent="0" marL="0">
              <a:buNone/>
            </a:pPr>
            <a:r>
              <a:rPr lang="en-US" sz="1400" dirty="0">
                <a:solidFill>
                  <a:schemeClr val="tx2"/>
                </a:solidFill>
              </a:rPr>
              <a:t>Skills open to the wider team (~25 people).</a:t>
            </a:r>
            <a:endParaRPr lang="en-US" sz="1400" dirty="0"/>
          </a:p>
        </p:txBody>
      </p:sp>
      <p:sp>
        <p:nvSpPr>
          <p:cNvPr id="29" name="gate-267"/>
          <p:cNvSpPr/>
          <p:nvPr/>
        </p:nvSpPr>
        <p:spPr>
          <a:xfrm>
            <a:off x="9190634" y="3931920"/>
            <a:ext cx="274320" cy="274320"/>
          </a:xfrm>
          <a:prstGeom prst="diamond">
            <a:avLst/>
          </a:prstGeom>
          <a:solidFill>
            <a:schemeClr val="tx1"/>
          </a:solidFill>
          <a:ln/>
        </p:spPr>
      </p:sp>
      <p:sp>
        <p:nvSpPr>
          <p:cNvPr id="30" name="text-268"/>
          <p:cNvSpPr txBox="1"/>
          <p:nvPr/>
        </p:nvSpPr>
        <p:spPr>
          <a:xfrm>
            <a:off x="9556394" y="3886200"/>
            <a:ext cx="1828800" cy="365760"/>
          </a:xfrm>
          <a:prstGeom prst="rect">
            <a:avLst/>
          </a:prstGeom>
          <a:noFill/>
          <a:ln/>
        </p:spPr>
        <p:txBody>
          <a:bodyPr wrap="square" lIns="0" tIns="0" rIns="0" bIns="0" rtlCol="0" anchor="ctr"/>
          <a:lstStyle/>
          <a:p>
            <a:pPr indent="0" marL="0">
              <a:buNone/>
            </a:pPr>
            <a:r>
              <a:rPr lang="en-US" sz="1300" b="1" dirty="0">
                <a:solidFill>
                  <a:schemeClr val="tx1"/>
                </a:solidFill>
              </a:rPr>
              <a:t>Gate · end Jan</a:t>
            </a:r>
            <a:endParaRPr lang="en-US" sz="1300" dirty="0"/>
          </a:p>
        </p:txBody>
      </p:sp>
      <p:sp>
        <p:nvSpPr>
          <p:cNvPr id="31" name="card-269"/>
          <p:cNvSpPr/>
          <p:nvPr/>
        </p:nvSpPr>
        <p:spPr>
          <a:xfrm>
            <a:off x="548640" y="4709160"/>
            <a:ext cx="5394960" cy="960120"/>
          </a:xfrm>
          <a:prstGeom prst="roundRect">
            <a:avLst>
              <a:gd name="adj" fmla="val 11429"/>
            </a:avLst>
          </a:prstGeom>
          <a:solidFill>
            <a:schemeClr val="bg2"/>
          </a:solidFill>
          <a:ln/>
        </p:spPr>
      </p:sp>
      <p:pic>
        <p:nvPicPr>
          <p:cNvPr id="32" name="icon-270" descr="preencoded.png">    </p:cNvPr>
          <p:cNvPicPr>
            <a:picLocks noChangeAspect="1"/>
          </p:cNvPicPr>
          <p:nvPr/>
        </p:nvPicPr>
        <p:blipFill>
          <a:blip r:embed="rId1"/>
          <a:stretch>
            <a:fillRect/>
          </a:stretch>
        </p:blipFill>
        <p:spPr>
          <a:xfrm>
            <a:off x="777240" y="4983480"/>
            <a:ext cx="411480" cy="411480"/>
          </a:xfrm>
          <a:prstGeom prst="rect">
            <a:avLst/>
          </a:prstGeom>
        </p:spPr>
      </p:pic>
      <p:sp>
        <p:nvSpPr>
          <p:cNvPr id="33" name="text-271"/>
          <p:cNvSpPr txBox="1"/>
          <p:nvPr/>
        </p:nvSpPr>
        <p:spPr>
          <a:xfrm>
            <a:off x="1371600" y="4709160"/>
            <a:ext cx="4434840" cy="960120"/>
          </a:xfrm>
          <a:prstGeom prst="rect">
            <a:avLst/>
          </a:prstGeom>
          <a:noFill/>
          <a:ln/>
        </p:spPr>
        <p:txBody>
          <a:bodyPr wrap="square" lIns="0" tIns="0" rIns="0" bIns="0" rtlCol="0" anchor="ctr"/>
          <a:lstStyle/>
          <a:p>
            <a:pPr indent="0" marL="0">
              <a:buNone/>
            </a:pPr>
            <a:r>
              <a:rPr lang="en-US" sz="1500" b="1" dirty="0">
                <a:solidFill>
                  <a:schemeClr val="tx1"/>
                </a:solidFill>
              </a:rPr>
              <a:t>At every gate: </a:t>
            </a:r>
            <a:pPr indent="0" marL="0">
              <a:buNone/>
            </a:pPr>
            <a:r>
              <a:rPr lang="en-US" sz="1500" dirty="0">
                <a:solidFill>
                  <a:schemeClr val="tx1"/>
                </a:solidFill>
              </a:rPr>
              <a:t>continue only if it saves real time.</a:t>
            </a:r>
            <a:endParaRPr lang="en-US" sz="1500" dirty="0"/>
          </a:p>
        </p:txBody>
      </p:sp>
      <p:sp>
        <p:nvSpPr>
          <p:cNvPr id="34" name="card-272"/>
          <p:cNvSpPr/>
          <p:nvPr/>
        </p:nvSpPr>
        <p:spPr>
          <a:xfrm>
            <a:off x="6217920" y="4709160"/>
            <a:ext cx="5394960" cy="960120"/>
          </a:xfrm>
          <a:prstGeom prst="roundRect">
            <a:avLst>
              <a:gd name="adj" fmla="val 11429"/>
            </a:avLst>
          </a:prstGeom>
          <a:solidFill>
            <a:schemeClr val="accent3"/>
          </a:solidFill>
          <a:ln/>
        </p:spPr>
      </p:sp>
      <p:pic>
        <p:nvPicPr>
          <p:cNvPr id="35" name="icon-273" descr="preencoded.png">    </p:cNvPr>
          <p:cNvPicPr>
            <a:picLocks noChangeAspect="1"/>
          </p:cNvPicPr>
          <p:nvPr/>
        </p:nvPicPr>
        <p:blipFill>
          <a:blip r:embed="rId2"/>
          <a:stretch>
            <a:fillRect/>
          </a:stretch>
        </p:blipFill>
        <p:spPr>
          <a:xfrm>
            <a:off x="6446520" y="4983480"/>
            <a:ext cx="411480" cy="411480"/>
          </a:xfrm>
          <a:prstGeom prst="rect">
            <a:avLst/>
          </a:prstGeom>
        </p:spPr>
      </p:pic>
      <p:sp>
        <p:nvSpPr>
          <p:cNvPr id="36" name="text-274"/>
          <p:cNvSpPr txBox="1"/>
          <p:nvPr/>
        </p:nvSpPr>
        <p:spPr>
          <a:xfrm>
            <a:off x="7040880" y="4709160"/>
            <a:ext cx="4434840" cy="960120"/>
          </a:xfrm>
          <a:prstGeom prst="rect">
            <a:avLst/>
          </a:prstGeom>
          <a:noFill/>
          <a:ln/>
        </p:spPr>
        <p:txBody>
          <a:bodyPr wrap="square" lIns="0" tIns="0" rIns="0" bIns="0" rtlCol="0" anchor="ctr"/>
          <a:lstStyle/>
          <a:p>
            <a:pPr indent="0" marL="0">
              <a:buNone/>
            </a:pPr>
            <a:r>
              <a:rPr lang="en-US" sz="1400" b="1" dirty="0">
                <a:solidFill>
                  <a:schemeClr val="accent1"/>
                </a:solidFill>
              </a:rPr>
              <a:t>Honest status: </a:t>
            </a:r>
            <a:pPr indent="0" marL="0">
              <a:buNone/>
            </a:pPr>
            <a:r>
              <a:rPr lang="en-US" sz="1400" dirty="0">
                <a:solidFill>
                  <a:schemeClr val="tx1"/>
                </a:solidFill>
              </a:rPr>
              <a:t>v0.3 is built (11 skills, team hub, marketplace) but not yet tested in Devin.</a:t>
            </a:r>
            <a:endParaRPr lang="en-US" sz="1400" dirty="0"/>
          </a:p>
        </p:txBody>
      </p:sp>
      <p:sp>
        <p:nvSpPr>
          <p:cNvPr id="37" name="text-275"/>
          <p:cNvSpPr txBox="1"/>
          <p:nvPr/>
        </p:nvSpPr>
        <p:spPr>
          <a:xfrm>
            <a:off x="548640" y="5852160"/>
            <a:ext cx="5486400" cy="411480"/>
          </a:xfrm>
          <a:prstGeom prst="rect">
            <a:avLst/>
          </a:prstGeom>
          <a:noFill/>
          <a:ln/>
        </p:spPr>
        <p:txBody>
          <a:bodyPr wrap="square" lIns="0" tIns="0" rIns="0" bIns="0" rtlCol="0" anchor="t"/>
          <a:lstStyle/>
          <a:p>
            <a:pPr indent="0" marL="0">
              <a:buNone/>
            </a:pPr>
            <a:r>
              <a:rPr lang="en-US" sz="2000" b="1" dirty="0">
                <a:solidFill>
                  <a:schemeClr val="accent1"/>
                </a:solidFill>
              </a:rPr>
              <a:t>Thank you</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PM Second Brain">
  <a:themeElements>
    <a:clrScheme name="PM Second Brain">
      <a:dk1>
        <a:srgbClr val="1F2933"/>
      </a:dk1>
      <a:lt1>
        <a:srgbClr val="FFFFFF"/>
      </a:lt1>
      <a:dk2>
        <a:srgbClr val="52606D"/>
      </a:dk2>
      <a:lt2>
        <a:srgbClr val="F3F4F6"/>
      </a:lt2>
      <a:accent1>
        <a:srgbClr val="C2410C"/>
      </a:accent1>
      <a:accent2>
        <a:srgbClr val="D9DEE4"/>
      </a:accent2>
      <a:accent3>
        <a:srgbClr val="FFEDD5"/>
      </a:accent3>
      <a:accent4>
        <a:srgbClr val="9AA5B1"/>
      </a:accent4>
      <a:accent5>
        <a:srgbClr val="111827"/>
      </a:accent5>
      <a:accent6>
        <a:srgbClr val="2F855A"/>
      </a:accent6>
      <a:hlink>
        <a:srgbClr val="C2410C"/>
      </a:hlink>
      <a:folHlink>
        <a:srgbClr val="9A3412"/>
      </a:folHlink>
    </a:clrScheme>
    <a:fontScheme name="PM Second Bra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 Second Brain</dc:title>
  <dc:subject>PptxGenJS Presentation</dc:subject>
  <dc:creator>João Miguel</dc:creator>
  <cp:lastModifiedBy>João Miguel</cp:lastModifiedBy>
  <cp:revision>1</cp:revision>
  <dcterms:created xsi:type="dcterms:W3CDTF">2026-10-19T22:52:54Z</dcterms:created>
  <dcterms:modified xsi:type="dcterms:W3CDTF">2026-10-19T22:52:54Z</dcterms:modified>
</cp:coreProperties>
</file>